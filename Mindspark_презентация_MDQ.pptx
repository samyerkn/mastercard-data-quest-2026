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68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770"/>
    <p:restoredTop sz="94610"/>
  </p:normalViewPr>
  <p:slideViewPr>
    <p:cSldViewPr snapToGrid="0" snapToObjects="1">
      <p:cViewPr>
        <p:scale>
          <a:sx n="97" d="100"/>
          <a:sy n="97" d="100"/>
        </p:scale>
        <p:origin x="2528" y="1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4580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807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Mastercard MDQ Hackathon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Выявление скрытой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коммерческой активности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74320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ML-модель для поиска клиентов-физлиц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признаками предпринимательского поведения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3566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Mindspark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132320" y="457200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4617720"/>
            <a:ext cx="384048" cy="384048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4645152"/>
            <a:ext cx="12344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48640"/>
            <a:ext cx="841248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7132320" y="4663440"/>
            <a:ext cx="1828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4681728"/>
            <a:ext cx="320040" cy="32004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4681728"/>
            <a:ext cx="128016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576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мы решаем?</a:t>
            </a:r>
            <a:endParaRPr lang="en-US" sz="2400" dirty="0"/>
          </a:p>
        </p:txBody>
      </p:sp>
      <p:sp>
        <p:nvSpPr>
          <p:cNvPr id="9" name="Shape 5"/>
          <p:cNvSpPr/>
          <p:nvPr/>
        </p:nvSpPr>
        <p:spPr>
          <a:xfrm>
            <a:off x="365760" y="1280160"/>
            <a:ext cx="2651760" cy="34747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Text 6"/>
          <p:cNvSpPr/>
          <p:nvPr/>
        </p:nvSpPr>
        <p:spPr>
          <a:xfrm>
            <a:off x="365760" y="12801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КОНТЕКСТ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65760" y="1627632"/>
            <a:ext cx="2651760" cy="2560320"/>
          </a:xfrm>
          <a:prstGeom prst="rect">
            <a:avLst/>
          </a:prstGeom>
          <a:solidFill>
            <a:srgbClr val="F9F9F9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Text 8"/>
          <p:cNvSpPr/>
          <p:nvPr/>
        </p:nvSpPr>
        <p:spPr>
          <a:xfrm>
            <a:off x="475488" y="1719072"/>
            <a:ext cx="243230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Самозанятые и ИП используют потребительские карты для бизнеса — платят за рекламу, облачные сервисы, логистику. Официально числятся физлицами.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200400" y="1280160"/>
            <a:ext cx="2651760" cy="34747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Text 10"/>
          <p:cNvSpPr/>
          <p:nvPr/>
        </p:nvSpPr>
        <p:spPr>
          <a:xfrm>
            <a:off x="3200400" y="12801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200400" y="1627632"/>
            <a:ext cx="2651760" cy="2560320"/>
          </a:xfrm>
          <a:prstGeom prst="rect">
            <a:avLst/>
          </a:prstGeom>
          <a:solidFill>
            <a:srgbClr val="F9F9F9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2"/>
          <p:cNvSpPr/>
          <p:nvPr/>
        </p:nvSpPr>
        <p:spPr>
          <a:xfrm>
            <a:off x="3310128" y="1719072"/>
            <a:ext cx="243230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Mastercard теряет доход: бизнес-карты имеют другие тарифы. Плюс эквайринг, кредиты оборотного капитала, зарплатные проекты — высокий LTV сегмента.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035040" y="1280160"/>
            <a:ext cx="265176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8" name="Text 14"/>
          <p:cNvSpPr/>
          <p:nvPr/>
        </p:nvSpPr>
        <p:spPr>
          <a:xfrm>
            <a:off x="6035040" y="12801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035040" y="1627632"/>
            <a:ext cx="2651760" cy="2560320"/>
          </a:xfrm>
          <a:prstGeom prst="rect">
            <a:avLst/>
          </a:prstGeom>
          <a:solidFill>
            <a:srgbClr val="F9F9F9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Text 16"/>
          <p:cNvSpPr/>
          <p:nvPr/>
        </p:nvSpPr>
        <p:spPr>
          <a:xfrm>
            <a:off x="6144768" y="1719072"/>
            <a:ext cx="243230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ML-модель формирует ранжированный watchlist кандидатов для команды продаж. Не автоматическое решение — финальное решение принимает менеджер банка.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65760" y="4251960"/>
            <a:ext cx="8412480" cy="292608"/>
          </a:xfrm>
          <a:prstGeom prst="rect">
            <a:avLst/>
          </a:prstGeom>
          <a:solidFill>
            <a:srgbClr val="FFF5F5"/>
          </a:solidFill>
          <a:ln w="635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2" name="Text 18"/>
          <p:cNvSpPr/>
          <p:nvPr/>
        </p:nvSpPr>
        <p:spPr>
          <a:xfrm>
            <a:off x="457200" y="42519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ML, а не правила? Правила не учитывают комбинации слабых сигналов. Умеренный online share + немного B2B MCC + регулярные платежи — вместе создают business-like behavior pattern.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48640"/>
            <a:ext cx="841248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7132320" y="4663440"/>
            <a:ext cx="1828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4681728"/>
            <a:ext cx="320040" cy="32004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4681728"/>
            <a:ext cx="128016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576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transaction dataset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365760" y="1143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Предоставлен организаторами | Октябрь 2025 — март 2026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65760" y="1508760"/>
            <a:ext cx="201168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Shape 7"/>
          <p:cNvSpPr/>
          <p:nvPr/>
        </p:nvSpPr>
        <p:spPr>
          <a:xfrm>
            <a:off x="365760" y="1563624"/>
            <a:ext cx="2011680" cy="868680"/>
          </a:xfrm>
          <a:prstGeom prst="rect">
            <a:avLst/>
          </a:prstGeom>
          <a:solidFill>
            <a:srgbClr val="F9F9F9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Text 8"/>
          <p:cNvSpPr/>
          <p:nvPr/>
        </p:nvSpPr>
        <p:spPr>
          <a:xfrm>
            <a:off x="365760" y="158191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25,000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365760" y="20116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бизнес-карт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~3M транзакций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2514600" y="1508760"/>
            <a:ext cx="2011680" cy="54864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Shape 11"/>
          <p:cNvSpPr/>
          <p:nvPr/>
        </p:nvSpPr>
        <p:spPr>
          <a:xfrm>
            <a:off x="2514600" y="1563624"/>
            <a:ext cx="2011680" cy="868680"/>
          </a:xfrm>
          <a:prstGeom prst="rect">
            <a:avLst/>
          </a:prstGeom>
          <a:solidFill>
            <a:srgbClr val="F9F9F9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2"/>
          <p:cNvSpPr/>
          <p:nvPr/>
        </p:nvSpPr>
        <p:spPr>
          <a:xfrm>
            <a:off x="2514600" y="158191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80,000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2514600" y="20116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потреб. карт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~10M транзакций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663440" y="1508760"/>
            <a:ext cx="2011680" cy="5486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Shape 15"/>
          <p:cNvSpPr/>
          <p:nvPr/>
        </p:nvSpPr>
        <p:spPr>
          <a:xfrm>
            <a:off x="4663440" y="1563624"/>
            <a:ext cx="2011680" cy="868680"/>
          </a:xfrm>
          <a:prstGeom prst="rect">
            <a:avLst/>
          </a:prstGeom>
          <a:solidFill>
            <a:srgbClr val="F9F9F9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Text 16"/>
          <p:cNvSpPr/>
          <p:nvPr/>
        </p:nvSpPr>
        <p:spPr>
          <a:xfrm>
            <a:off x="4663440" y="158191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2,165</a:t>
            </a:r>
            <a:endParaRPr lang="en-US" sz="2400" dirty="0"/>
          </a:p>
        </p:txBody>
      </p:sp>
      <p:sp>
        <p:nvSpPr>
          <p:cNvPr id="21" name="Text 17"/>
          <p:cNvSpPr/>
          <p:nvPr/>
        </p:nvSpPr>
        <p:spPr>
          <a:xfrm>
            <a:off x="4663440" y="20116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мерчантов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справочнике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6812280" y="1508760"/>
            <a:ext cx="2011680" cy="5486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3" name="Shape 19"/>
          <p:cNvSpPr/>
          <p:nvPr/>
        </p:nvSpPr>
        <p:spPr>
          <a:xfrm>
            <a:off x="6812280" y="1563624"/>
            <a:ext cx="2011680" cy="868680"/>
          </a:xfrm>
          <a:prstGeom prst="rect">
            <a:avLst/>
          </a:prstGeom>
          <a:solidFill>
            <a:srgbClr val="F9F9F9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Text 20"/>
          <p:cNvSpPr/>
          <p:nvPr/>
        </p:nvSpPr>
        <p:spPr>
          <a:xfrm>
            <a:off x="6812280" y="158191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6812280" y="20116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признаков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модели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365760" y="2560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различия сегментов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365760" y="2862072"/>
            <a:ext cx="8412480" cy="246888"/>
          </a:xfrm>
          <a:prstGeom prst="rect">
            <a:avLst/>
          </a:prstGeom>
          <a:solidFill>
            <a:srgbClr val="CC0000"/>
          </a:solidFill>
          <a:ln w="381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8" name="Text 24"/>
          <p:cNvSpPr/>
          <p:nvPr/>
        </p:nvSpPr>
        <p:spPr>
          <a:xfrm>
            <a:off x="457200" y="2880360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Признак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3246120" y="2880360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Бизнес-карты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6035040" y="2880360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Потребители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365760" y="3118104"/>
            <a:ext cx="841248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2" name="Text 28"/>
          <p:cNvSpPr/>
          <p:nvPr/>
        </p:nvSpPr>
        <p:spPr>
          <a:xfrm>
            <a:off x="457200" y="3136392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mean_amount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3246120" y="3136392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167,642 тенге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6035040" y="3136392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54,770 тенге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365760" y="3374136"/>
            <a:ext cx="8412480" cy="246888"/>
          </a:xfrm>
          <a:prstGeom prst="rect">
            <a:avLst/>
          </a:prstGeom>
          <a:solidFill>
            <a:srgbClr val="F5F5F5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6" name="Text 32"/>
          <p:cNvSpPr/>
          <p:nvPr/>
        </p:nvSpPr>
        <p:spPr>
          <a:xfrm>
            <a:off x="457200" y="3392424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share_biz_mcc</a:t>
            </a:r>
            <a:endParaRPr lang="en-US" sz="950" dirty="0"/>
          </a:p>
        </p:txBody>
      </p:sp>
      <p:sp>
        <p:nvSpPr>
          <p:cNvPr id="37" name="Text 33"/>
          <p:cNvSpPr/>
          <p:nvPr/>
        </p:nvSpPr>
        <p:spPr>
          <a:xfrm>
            <a:off x="3246120" y="3392424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55.9%</a:t>
            </a:r>
            <a:endParaRPr lang="en-US" sz="950" dirty="0"/>
          </a:p>
        </p:txBody>
      </p:sp>
      <p:sp>
        <p:nvSpPr>
          <p:cNvPr id="38" name="Text 34"/>
          <p:cNvSpPr/>
          <p:nvPr/>
        </p:nvSpPr>
        <p:spPr>
          <a:xfrm>
            <a:off x="6035040" y="3392424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5.3%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365760" y="3630168"/>
            <a:ext cx="841248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0" name="Text 36"/>
          <p:cNvSpPr/>
          <p:nvPr/>
        </p:nvSpPr>
        <p:spPr>
          <a:xfrm>
            <a:off x="457200" y="3648456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share_online</a:t>
            </a:r>
            <a:endParaRPr lang="en-US" sz="950" dirty="0"/>
          </a:p>
        </p:txBody>
      </p:sp>
      <p:sp>
        <p:nvSpPr>
          <p:cNvPr id="41" name="Text 37"/>
          <p:cNvSpPr/>
          <p:nvPr/>
        </p:nvSpPr>
        <p:spPr>
          <a:xfrm>
            <a:off x="3246120" y="3648456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84.8%</a:t>
            </a:r>
            <a:endParaRPr lang="en-US" sz="950" dirty="0"/>
          </a:p>
        </p:txBody>
      </p:sp>
      <p:sp>
        <p:nvSpPr>
          <p:cNvPr id="42" name="Text 38"/>
          <p:cNvSpPr/>
          <p:nvPr/>
        </p:nvSpPr>
        <p:spPr>
          <a:xfrm>
            <a:off x="6035040" y="3648456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46.9%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365760" y="3886200"/>
            <a:ext cx="8412480" cy="246888"/>
          </a:xfrm>
          <a:prstGeom prst="rect">
            <a:avLst/>
          </a:prstGeom>
          <a:solidFill>
            <a:srgbClr val="F5F5F5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4" name="Text 40"/>
          <p:cNvSpPr/>
          <p:nvPr/>
        </p:nvSpPr>
        <p:spPr>
          <a:xfrm>
            <a:off x="457200" y="3904488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share_recurring</a:t>
            </a:r>
            <a:endParaRPr lang="en-US" sz="950" dirty="0"/>
          </a:p>
        </p:txBody>
      </p:sp>
      <p:sp>
        <p:nvSpPr>
          <p:cNvPr id="45" name="Text 41"/>
          <p:cNvSpPr/>
          <p:nvPr/>
        </p:nvSpPr>
        <p:spPr>
          <a:xfrm>
            <a:off x="3246120" y="3904488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15.5%</a:t>
            </a:r>
            <a:endParaRPr lang="en-US" sz="950" dirty="0"/>
          </a:p>
        </p:txBody>
      </p:sp>
      <p:sp>
        <p:nvSpPr>
          <p:cNvPr id="46" name="Text 42"/>
          <p:cNvSpPr/>
          <p:nvPr/>
        </p:nvSpPr>
        <p:spPr>
          <a:xfrm>
            <a:off x="6035040" y="3904488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950" dirty="0"/>
          </a:p>
        </p:txBody>
      </p:sp>
      <p:sp>
        <p:nvSpPr>
          <p:cNvPr id="47" name="Shape 43"/>
          <p:cNvSpPr/>
          <p:nvPr/>
        </p:nvSpPr>
        <p:spPr>
          <a:xfrm>
            <a:off x="365760" y="4142232"/>
            <a:ext cx="841248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8" name="Text 44"/>
          <p:cNvSpPr/>
          <p:nvPr/>
        </p:nvSpPr>
        <p:spPr>
          <a:xfrm>
            <a:off x="457200" y="4160520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share_tokenized</a:t>
            </a:r>
            <a:endParaRPr lang="en-US" sz="950" dirty="0"/>
          </a:p>
        </p:txBody>
      </p:sp>
      <p:sp>
        <p:nvSpPr>
          <p:cNvPr id="49" name="Text 45"/>
          <p:cNvSpPr/>
          <p:nvPr/>
        </p:nvSpPr>
        <p:spPr>
          <a:xfrm>
            <a:off x="3246120" y="4160520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58.5%</a:t>
            </a:r>
            <a:endParaRPr lang="en-US" sz="950" dirty="0"/>
          </a:p>
        </p:txBody>
      </p:sp>
      <p:sp>
        <p:nvSpPr>
          <p:cNvPr id="50" name="Text 46"/>
          <p:cNvSpPr/>
          <p:nvPr/>
        </p:nvSpPr>
        <p:spPr>
          <a:xfrm>
            <a:off x="6035040" y="4160520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38.5%</a:t>
            </a:r>
            <a:endParaRPr lang="en-US" sz="950" dirty="0"/>
          </a:p>
        </p:txBody>
      </p:sp>
      <p:sp>
        <p:nvSpPr>
          <p:cNvPr id="51" name="Shape 47"/>
          <p:cNvSpPr/>
          <p:nvPr/>
        </p:nvSpPr>
        <p:spPr>
          <a:xfrm>
            <a:off x="365760" y="4398264"/>
            <a:ext cx="8412480" cy="246888"/>
          </a:xfrm>
          <a:prstGeom prst="rect">
            <a:avLst/>
          </a:prstGeom>
          <a:solidFill>
            <a:srgbClr val="F5F5F5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2" name="Text 48"/>
          <p:cNvSpPr/>
          <p:nvPr/>
        </p:nvSpPr>
        <p:spPr>
          <a:xfrm>
            <a:off x="457200" y="4416552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share_bizhours</a:t>
            </a:r>
            <a:endParaRPr lang="en-US" sz="950" dirty="0"/>
          </a:p>
        </p:txBody>
      </p:sp>
      <p:sp>
        <p:nvSpPr>
          <p:cNvPr id="53" name="Text 49"/>
          <p:cNvSpPr/>
          <p:nvPr/>
        </p:nvSpPr>
        <p:spPr>
          <a:xfrm>
            <a:off x="3246120" y="4416552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65.7%</a:t>
            </a:r>
            <a:endParaRPr lang="en-US" sz="950" dirty="0"/>
          </a:p>
        </p:txBody>
      </p:sp>
      <p:sp>
        <p:nvSpPr>
          <p:cNvPr id="54" name="Text 50"/>
          <p:cNvSpPr/>
          <p:nvPr/>
        </p:nvSpPr>
        <p:spPr>
          <a:xfrm>
            <a:off x="6035040" y="4416552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52.4%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ГИПОТЕЗЫ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48640"/>
            <a:ext cx="841248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7132320" y="4663440"/>
            <a:ext cx="1828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4681728"/>
            <a:ext cx="320040" cy="32004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4681728"/>
            <a:ext cx="128016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576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поведенческих гипотез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365760" y="11430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Каждая гипотеза — конкретный признак в модели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65760" y="1508760"/>
            <a:ext cx="2011680" cy="868680"/>
          </a:xfrm>
          <a:prstGeom prst="rect">
            <a:avLst/>
          </a:prstGeom>
          <a:solidFill>
            <a:srgbClr val="F9F9F9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Shape 7"/>
          <p:cNvSpPr/>
          <p:nvPr/>
        </p:nvSpPr>
        <p:spPr>
          <a:xfrm>
            <a:off x="365760" y="1508760"/>
            <a:ext cx="45720" cy="8686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Text 8"/>
          <p:cNvSpPr/>
          <p:nvPr/>
        </p:nvSpPr>
        <p:spPr>
          <a:xfrm>
            <a:off x="475488" y="157276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категории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75488" y="18288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share_biz_mcc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475488" y="20391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55.9% vs 5.3%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2514600" y="1508760"/>
            <a:ext cx="2011680" cy="868680"/>
          </a:xfrm>
          <a:prstGeom prst="rect">
            <a:avLst/>
          </a:prstGeom>
          <a:solidFill>
            <a:srgbClr val="F9F9F9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Shape 12"/>
          <p:cNvSpPr/>
          <p:nvPr/>
        </p:nvSpPr>
        <p:spPr>
          <a:xfrm>
            <a:off x="2514600" y="1508760"/>
            <a:ext cx="45720" cy="8686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Text 13"/>
          <p:cNvSpPr/>
          <p:nvPr/>
        </p:nvSpPr>
        <p:spPr>
          <a:xfrm>
            <a:off x="2624328" y="157276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Онлайн-платежи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2624328" y="18288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share_online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2624328" y="20391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84.8% vs 46.9%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663440" y="1508760"/>
            <a:ext cx="2011680" cy="868680"/>
          </a:xfrm>
          <a:prstGeom prst="rect">
            <a:avLst/>
          </a:prstGeom>
          <a:solidFill>
            <a:srgbClr val="F9F9F9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Shape 17"/>
          <p:cNvSpPr/>
          <p:nvPr/>
        </p:nvSpPr>
        <p:spPr>
          <a:xfrm>
            <a:off x="4663440" y="1508760"/>
            <a:ext cx="45720" cy="8686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2" name="Text 18"/>
          <p:cNvSpPr/>
          <p:nvPr/>
        </p:nvSpPr>
        <p:spPr>
          <a:xfrm>
            <a:off x="4773168" y="157276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Рабочие часы 9-18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4773168" y="18288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share_bizhours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4773168" y="20391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65.7% vs 52.4%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6812280" y="1508760"/>
            <a:ext cx="2011680" cy="868680"/>
          </a:xfrm>
          <a:prstGeom prst="rect">
            <a:avLst/>
          </a:prstGeom>
          <a:solidFill>
            <a:srgbClr val="F9F9F9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6" name="Shape 22"/>
          <p:cNvSpPr/>
          <p:nvPr/>
        </p:nvSpPr>
        <p:spPr>
          <a:xfrm>
            <a:off x="6812280" y="1508760"/>
            <a:ext cx="45720" cy="8686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7" name="Text 23"/>
          <p:cNvSpPr/>
          <p:nvPr/>
        </p:nvSpPr>
        <p:spPr>
          <a:xfrm>
            <a:off x="6922008" y="157276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 выходные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6922008" y="18288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share_weekend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6922008" y="20391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~6% vs ~17%</a:t>
            </a:r>
            <a:endParaRPr lang="en-US" sz="800" dirty="0"/>
          </a:p>
        </p:txBody>
      </p:sp>
      <p:sp>
        <p:nvSpPr>
          <p:cNvPr id="30" name="Shape 26"/>
          <p:cNvSpPr/>
          <p:nvPr/>
        </p:nvSpPr>
        <p:spPr>
          <a:xfrm>
            <a:off x="365760" y="2514600"/>
            <a:ext cx="2011680" cy="868680"/>
          </a:xfrm>
          <a:prstGeom prst="rect">
            <a:avLst/>
          </a:prstGeom>
          <a:solidFill>
            <a:srgbClr val="F9F9F9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1" name="Shape 27"/>
          <p:cNvSpPr/>
          <p:nvPr/>
        </p:nvSpPr>
        <p:spPr>
          <a:xfrm>
            <a:off x="365760" y="2514600"/>
            <a:ext cx="45720" cy="8686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2" name="Text 28"/>
          <p:cNvSpPr/>
          <p:nvPr/>
        </p:nvSpPr>
        <p:spPr>
          <a:xfrm>
            <a:off x="475488" y="257860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Средний чек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475488" y="28346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mean_amount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475488" y="3044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167K vs 55K тенге</a:t>
            </a:r>
            <a:endParaRPr lang="en-US" sz="800" dirty="0"/>
          </a:p>
        </p:txBody>
      </p:sp>
      <p:sp>
        <p:nvSpPr>
          <p:cNvPr id="35" name="Shape 31"/>
          <p:cNvSpPr/>
          <p:nvPr/>
        </p:nvSpPr>
        <p:spPr>
          <a:xfrm>
            <a:off x="2514600" y="2514600"/>
            <a:ext cx="2011680" cy="868680"/>
          </a:xfrm>
          <a:prstGeom prst="rect">
            <a:avLst/>
          </a:prstGeom>
          <a:solidFill>
            <a:srgbClr val="F9F9F9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6" name="Shape 32"/>
          <p:cNvSpPr/>
          <p:nvPr/>
        </p:nvSpPr>
        <p:spPr>
          <a:xfrm>
            <a:off x="2514600" y="2514600"/>
            <a:ext cx="45720" cy="8686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7" name="Text 33"/>
          <p:cNvSpPr/>
          <p:nvPr/>
        </p:nvSpPr>
        <p:spPr>
          <a:xfrm>
            <a:off x="2624328" y="257860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Регулярные подписки</a:t>
            </a:r>
            <a:endParaRPr lang="en-US" sz="950" dirty="0"/>
          </a:p>
        </p:txBody>
      </p:sp>
      <p:sp>
        <p:nvSpPr>
          <p:cNvPr id="38" name="Text 34"/>
          <p:cNvSpPr/>
          <p:nvPr/>
        </p:nvSpPr>
        <p:spPr>
          <a:xfrm>
            <a:off x="2624328" y="28346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share_recurring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2624328" y="3044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15.5% vs 3.1%</a:t>
            </a:r>
            <a:endParaRPr lang="en-US" sz="800" dirty="0"/>
          </a:p>
        </p:txBody>
      </p:sp>
      <p:sp>
        <p:nvSpPr>
          <p:cNvPr id="40" name="Shape 36"/>
          <p:cNvSpPr/>
          <p:nvPr/>
        </p:nvSpPr>
        <p:spPr>
          <a:xfrm>
            <a:off x="4663440" y="2514600"/>
            <a:ext cx="2011680" cy="868680"/>
          </a:xfrm>
          <a:prstGeom prst="rect">
            <a:avLst/>
          </a:prstGeom>
          <a:solidFill>
            <a:srgbClr val="F9F9F9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1" name="Shape 37"/>
          <p:cNvSpPr/>
          <p:nvPr/>
        </p:nvSpPr>
        <p:spPr>
          <a:xfrm>
            <a:off x="4663440" y="2514600"/>
            <a:ext cx="45720" cy="8686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2" name="Text 38"/>
          <p:cNvSpPr/>
          <p:nvPr/>
        </p:nvSpPr>
        <p:spPr>
          <a:xfrm>
            <a:off x="4773168" y="257860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Apple/Samsung Pay</a:t>
            </a:r>
            <a:endParaRPr lang="en-US" sz="950" dirty="0"/>
          </a:p>
        </p:txBody>
      </p:sp>
      <p:sp>
        <p:nvSpPr>
          <p:cNvPr id="43" name="Text 39"/>
          <p:cNvSpPr/>
          <p:nvPr/>
        </p:nvSpPr>
        <p:spPr>
          <a:xfrm>
            <a:off x="4773168" y="28346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share_tokenized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4773168" y="3044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58.5% vs 38.5%</a:t>
            </a:r>
            <a:endParaRPr lang="en-US" sz="800" dirty="0"/>
          </a:p>
        </p:txBody>
      </p:sp>
      <p:sp>
        <p:nvSpPr>
          <p:cNvPr id="45" name="Shape 41"/>
          <p:cNvSpPr/>
          <p:nvPr/>
        </p:nvSpPr>
        <p:spPr>
          <a:xfrm>
            <a:off x="6812280" y="2514600"/>
            <a:ext cx="2011680" cy="868680"/>
          </a:xfrm>
          <a:prstGeom prst="rect">
            <a:avLst/>
          </a:prstGeom>
          <a:solidFill>
            <a:srgbClr val="F9F9F9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6" name="Shape 42"/>
          <p:cNvSpPr/>
          <p:nvPr/>
        </p:nvSpPr>
        <p:spPr>
          <a:xfrm>
            <a:off x="6812280" y="2514600"/>
            <a:ext cx="45720" cy="8686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7" name="Text 43"/>
          <p:cNvSpPr/>
          <p:nvPr/>
        </p:nvSpPr>
        <p:spPr>
          <a:xfrm>
            <a:off x="6922008" y="257860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Разные мерчанты</a:t>
            </a:r>
            <a:endParaRPr lang="en-US" sz="950" dirty="0"/>
          </a:p>
        </p:txBody>
      </p:sp>
      <p:sp>
        <p:nvSpPr>
          <p:cNvPr id="48" name="Text 44"/>
          <p:cNvSpPr/>
          <p:nvPr/>
        </p:nvSpPr>
        <p:spPr>
          <a:xfrm>
            <a:off x="6922008" y="28346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merchant_diversity</a:t>
            </a:r>
            <a:endParaRPr lang="en-US" sz="800" dirty="0"/>
          </a:p>
        </p:txBody>
      </p:sp>
      <p:sp>
        <p:nvSpPr>
          <p:cNvPr id="49" name="Text 45"/>
          <p:cNvSpPr/>
          <p:nvPr/>
        </p:nvSpPr>
        <p:spPr>
          <a:xfrm>
            <a:off x="6922008" y="3044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n_merchants / n_tx</a:t>
            </a:r>
            <a:endParaRPr lang="en-US" sz="800" dirty="0"/>
          </a:p>
        </p:txBody>
      </p:sp>
      <p:sp>
        <p:nvSpPr>
          <p:cNvPr id="50" name="Shape 46"/>
          <p:cNvSpPr/>
          <p:nvPr/>
        </p:nvSpPr>
        <p:spPr>
          <a:xfrm>
            <a:off x="365760" y="3520440"/>
            <a:ext cx="2011680" cy="868680"/>
          </a:xfrm>
          <a:prstGeom prst="rect">
            <a:avLst/>
          </a:prstGeom>
          <a:solidFill>
            <a:srgbClr val="F9F9F9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1" name="Shape 47"/>
          <p:cNvSpPr/>
          <p:nvPr/>
        </p:nvSpPr>
        <p:spPr>
          <a:xfrm>
            <a:off x="365760" y="3520440"/>
            <a:ext cx="45720" cy="8686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2" name="Text 48"/>
          <p:cNvSpPr/>
          <p:nvPr/>
        </p:nvSpPr>
        <p:spPr>
          <a:xfrm>
            <a:off x="475488" y="358444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Международные</a:t>
            </a:r>
            <a:endParaRPr lang="en-US" sz="950" dirty="0"/>
          </a:p>
        </p:txBody>
      </p:sp>
      <p:sp>
        <p:nvSpPr>
          <p:cNvPr id="53" name="Text 49"/>
          <p:cNvSpPr/>
          <p:nvPr/>
        </p:nvSpPr>
        <p:spPr>
          <a:xfrm>
            <a:off x="475488" y="38404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share_foreign</a:t>
            </a:r>
            <a:endParaRPr lang="en-US" sz="800" dirty="0"/>
          </a:p>
        </p:txBody>
      </p:sp>
      <p:sp>
        <p:nvSpPr>
          <p:cNvPr id="54" name="Text 50"/>
          <p:cNvSpPr/>
          <p:nvPr/>
        </p:nvSpPr>
        <p:spPr>
          <a:xfrm>
            <a:off x="475488" y="40507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страны != KZ</a:t>
            </a:r>
            <a:endParaRPr lang="en-US" sz="800" dirty="0"/>
          </a:p>
        </p:txBody>
      </p:sp>
      <p:sp>
        <p:nvSpPr>
          <p:cNvPr id="55" name="Shape 51"/>
          <p:cNvSpPr/>
          <p:nvPr/>
        </p:nvSpPr>
        <p:spPr>
          <a:xfrm>
            <a:off x="2514600" y="3520440"/>
            <a:ext cx="2011680" cy="868680"/>
          </a:xfrm>
          <a:prstGeom prst="rect">
            <a:avLst/>
          </a:prstGeom>
          <a:solidFill>
            <a:srgbClr val="F9F9F9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6" name="Shape 52"/>
          <p:cNvSpPr/>
          <p:nvPr/>
        </p:nvSpPr>
        <p:spPr>
          <a:xfrm>
            <a:off x="2514600" y="3520440"/>
            <a:ext cx="45720" cy="8686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7" name="Text 53"/>
          <p:cNvSpPr/>
          <p:nvPr/>
        </p:nvSpPr>
        <p:spPr>
          <a:xfrm>
            <a:off x="2624328" y="358444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Разброс сумм</a:t>
            </a:r>
            <a:endParaRPr lang="en-US" sz="950" dirty="0"/>
          </a:p>
        </p:txBody>
      </p:sp>
      <p:sp>
        <p:nvSpPr>
          <p:cNvPr id="58" name="Text 54"/>
          <p:cNvSpPr/>
          <p:nvPr/>
        </p:nvSpPr>
        <p:spPr>
          <a:xfrm>
            <a:off x="2624328" y="38404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amount_cv</a:t>
            </a:r>
            <a:endParaRPr lang="en-US" sz="800" dirty="0"/>
          </a:p>
        </p:txBody>
      </p:sp>
      <p:sp>
        <p:nvSpPr>
          <p:cNvPr id="59" name="Text 55"/>
          <p:cNvSpPr/>
          <p:nvPr/>
        </p:nvSpPr>
        <p:spPr>
          <a:xfrm>
            <a:off x="2624328" y="40507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std / mean</a:t>
            </a:r>
            <a:endParaRPr lang="en-US" sz="800" dirty="0"/>
          </a:p>
        </p:txBody>
      </p:sp>
      <p:sp>
        <p:nvSpPr>
          <p:cNvPr id="60" name="Shape 56"/>
          <p:cNvSpPr/>
          <p:nvPr/>
        </p:nvSpPr>
        <p:spPr>
          <a:xfrm>
            <a:off x="4663440" y="3520440"/>
            <a:ext cx="2011680" cy="868680"/>
          </a:xfrm>
          <a:prstGeom prst="rect">
            <a:avLst/>
          </a:prstGeom>
          <a:solidFill>
            <a:srgbClr val="F9F9F9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1" name="Shape 57"/>
          <p:cNvSpPr/>
          <p:nvPr/>
        </p:nvSpPr>
        <p:spPr>
          <a:xfrm>
            <a:off x="4663440" y="3520440"/>
            <a:ext cx="45720" cy="8686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2" name="Text 58"/>
          <p:cNvSpPr/>
          <p:nvPr/>
        </p:nvSpPr>
        <p:spPr>
          <a:xfrm>
            <a:off x="4773168" y="358444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Подписочные мерч.</a:t>
            </a:r>
            <a:endParaRPr lang="en-US" sz="950" dirty="0"/>
          </a:p>
        </p:txBody>
      </p:sp>
      <p:sp>
        <p:nvSpPr>
          <p:cNvPr id="63" name="Text 59"/>
          <p:cNvSpPr/>
          <p:nvPr/>
        </p:nvSpPr>
        <p:spPr>
          <a:xfrm>
            <a:off x="4773168" y="38404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share_rec_capable</a:t>
            </a:r>
            <a:endParaRPr lang="en-US" sz="800" dirty="0"/>
          </a:p>
        </p:txBody>
      </p:sp>
      <p:sp>
        <p:nvSpPr>
          <p:cNvPr id="64" name="Text 60"/>
          <p:cNvSpPr/>
          <p:nvPr/>
        </p:nvSpPr>
        <p:spPr>
          <a:xfrm>
            <a:off x="4773168" y="40507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33.6% vs 7.4%</a:t>
            </a:r>
            <a:endParaRPr lang="en-US" sz="800" dirty="0"/>
          </a:p>
        </p:txBody>
      </p:sp>
      <p:sp>
        <p:nvSpPr>
          <p:cNvPr id="65" name="Shape 61"/>
          <p:cNvSpPr/>
          <p:nvPr/>
        </p:nvSpPr>
        <p:spPr>
          <a:xfrm>
            <a:off x="6812280" y="3520440"/>
            <a:ext cx="2011680" cy="868680"/>
          </a:xfrm>
          <a:prstGeom prst="rect">
            <a:avLst/>
          </a:prstGeom>
          <a:solidFill>
            <a:srgbClr val="F9F9F9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6" name="Shape 62"/>
          <p:cNvSpPr/>
          <p:nvPr/>
        </p:nvSpPr>
        <p:spPr>
          <a:xfrm>
            <a:off x="6812280" y="3520440"/>
            <a:ext cx="45720" cy="8686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7" name="Text 63"/>
          <p:cNvSpPr/>
          <p:nvPr/>
        </p:nvSpPr>
        <p:spPr>
          <a:xfrm>
            <a:off x="6922008" y="358444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ночью</a:t>
            </a:r>
            <a:endParaRPr lang="en-US" sz="950" dirty="0"/>
          </a:p>
        </p:txBody>
      </p:sp>
      <p:sp>
        <p:nvSpPr>
          <p:cNvPr id="68" name="Text 64"/>
          <p:cNvSpPr/>
          <p:nvPr/>
        </p:nvSpPr>
        <p:spPr>
          <a:xfrm>
            <a:off x="6922008" y="38404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share_night</a:t>
            </a:r>
            <a:endParaRPr lang="en-US" sz="800" dirty="0"/>
          </a:p>
        </p:txBody>
      </p:sp>
      <p:sp>
        <p:nvSpPr>
          <p:cNvPr id="69" name="Text 65"/>
          <p:cNvSpPr/>
          <p:nvPr/>
        </p:nvSpPr>
        <p:spPr>
          <a:xfrm>
            <a:off x="6922008" y="40507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22:00-06:00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48640"/>
            <a:ext cx="841248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7132320" y="4663440"/>
            <a:ext cx="1828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4681728"/>
            <a:ext cx="320040" cy="32004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4681728"/>
            <a:ext cx="128016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576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Методология</a:t>
            </a:r>
            <a:endParaRPr lang="en-US" sz="2400" dirty="0"/>
          </a:p>
        </p:txBody>
      </p:sp>
      <p:sp>
        <p:nvSpPr>
          <p:cNvPr id="9" name="Shape 5"/>
          <p:cNvSpPr/>
          <p:nvPr/>
        </p:nvSpPr>
        <p:spPr>
          <a:xfrm>
            <a:off x="320040" y="1280160"/>
            <a:ext cx="1325880" cy="960120"/>
          </a:xfrm>
          <a:prstGeom prst="rect">
            <a:avLst/>
          </a:prstGeom>
          <a:solidFill>
            <a:srgbClr val="F9F9F9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Text 6"/>
          <p:cNvSpPr/>
          <p:nvPr/>
        </p:nvSpPr>
        <p:spPr>
          <a:xfrm>
            <a:off x="320040" y="1325880"/>
            <a:ext cx="1325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13M+ транзакций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1645920" y="1737360"/>
            <a:ext cx="118872" cy="4572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Shape 8"/>
          <p:cNvSpPr/>
          <p:nvPr/>
        </p:nvSpPr>
        <p:spPr>
          <a:xfrm>
            <a:off x="1764792" y="1280160"/>
            <a:ext cx="1325880" cy="960120"/>
          </a:xfrm>
          <a:prstGeom prst="rect">
            <a:avLst/>
          </a:prstGeom>
          <a:solidFill>
            <a:srgbClr val="F9F9F9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Text 9"/>
          <p:cNvSpPr/>
          <p:nvPr/>
        </p:nvSpPr>
        <p:spPr>
          <a:xfrm>
            <a:off x="1764792" y="1325880"/>
            <a:ext cx="1325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признаков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090672" y="1737360"/>
            <a:ext cx="118872" cy="4572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Shape 11"/>
          <p:cNvSpPr/>
          <p:nvPr/>
        </p:nvSpPr>
        <p:spPr>
          <a:xfrm>
            <a:off x="3209544" y="1280160"/>
            <a:ext cx="1325880" cy="960120"/>
          </a:xfrm>
          <a:prstGeom prst="rect">
            <a:avLst/>
          </a:prstGeom>
          <a:solidFill>
            <a:srgbClr val="F9F9F9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2"/>
          <p:cNvSpPr/>
          <p:nvPr/>
        </p:nvSpPr>
        <p:spPr>
          <a:xfrm>
            <a:off x="3209544" y="1325880"/>
            <a:ext cx="1325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Разметка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stratify split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535424" y="1737360"/>
            <a:ext cx="118872" cy="4572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8" name="Shape 14"/>
          <p:cNvSpPr/>
          <p:nvPr/>
        </p:nvSpPr>
        <p:spPr>
          <a:xfrm>
            <a:off x="4654296" y="1280160"/>
            <a:ext cx="1325880" cy="960120"/>
          </a:xfrm>
          <a:prstGeom prst="rect">
            <a:avLst/>
          </a:prstGeom>
          <a:solidFill>
            <a:srgbClr val="FFF5F5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Shape 15"/>
          <p:cNvSpPr/>
          <p:nvPr/>
        </p:nvSpPr>
        <p:spPr>
          <a:xfrm>
            <a:off x="4654296" y="1280160"/>
            <a:ext cx="1325880" cy="457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Text 16"/>
          <p:cNvSpPr/>
          <p:nvPr/>
        </p:nvSpPr>
        <p:spPr>
          <a:xfrm>
            <a:off x="4654296" y="1325880"/>
            <a:ext cx="1325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модели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LGB выбрана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5980176" y="1737360"/>
            <a:ext cx="118872" cy="4572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2" name="Shape 18"/>
          <p:cNvSpPr/>
          <p:nvPr/>
        </p:nvSpPr>
        <p:spPr>
          <a:xfrm>
            <a:off x="6099048" y="1280160"/>
            <a:ext cx="1325880" cy="960120"/>
          </a:xfrm>
          <a:prstGeom prst="rect">
            <a:avLst/>
          </a:prstGeom>
          <a:solidFill>
            <a:srgbClr val="F9F9F9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3" name="Text 19"/>
          <p:cNvSpPr/>
          <p:nvPr/>
        </p:nvSpPr>
        <p:spPr>
          <a:xfrm>
            <a:off x="6099048" y="1325880"/>
            <a:ext cx="1325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объяснимость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7424928" y="1737360"/>
            <a:ext cx="118872" cy="4572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5" name="Shape 21"/>
          <p:cNvSpPr/>
          <p:nvPr/>
        </p:nvSpPr>
        <p:spPr>
          <a:xfrm>
            <a:off x="7543800" y="1280160"/>
            <a:ext cx="1325880" cy="960120"/>
          </a:xfrm>
          <a:prstGeom prst="rect">
            <a:avLst/>
          </a:prstGeom>
          <a:solidFill>
            <a:srgbClr val="FFF5F5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6" name="Shape 22"/>
          <p:cNvSpPr/>
          <p:nvPr/>
        </p:nvSpPr>
        <p:spPr>
          <a:xfrm>
            <a:off x="7543800" y="1280160"/>
            <a:ext cx="1325880" cy="457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7" name="Text 23"/>
          <p:cNvSpPr/>
          <p:nvPr/>
        </p:nvSpPr>
        <p:spPr>
          <a:xfrm>
            <a:off x="7543800" y="1325880"/>
            <a:ext cx="1325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597 кандидатов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watchlist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365760" y="2423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моделей (из ноутбука)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365760" y="2724912"/>
            <a:ext cx="8412480" cy="246888"/>
          </a:xfrm>
          <a:prstGeom prst="rect">
            <a:avLst/>
          </a:prstGeom>
          <a:solidFill>
            <a:srgbClr val="CC0000"/>
          </a:solidFill>
          <a:ln w="381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0" name="Text 26"/>
          <p:cNvSpPr/>
          <p:nvPr/>
        </p:nvSpPr>
        <p:spPr>
          <a:xfrm>
            <a:off x="457200" y="274320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2514600" y="274320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4572000" y="274320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6629400" y="274320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Примечание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365760" y="2980944"/>
            <a:ext cx="8412480" cy="246888"/>
          </a:xfrm>
          <a:prstGeom prst="rect">
            <a:avLst/>
          </a:prstGeom>
          <a:solidFill>
            <a:srgbClr val="FFF5F5"/>
          </a:solidFill>
          <a:ln w="381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5" name="Text 31"/>
          <p:cNvSpPr/>
          <p:nvPr/>
        </p:nvSpPr>
        <p:spPr>
          <a:xfrm>
            <a:off x="457200" y="299923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LightGBM</a:t>
            </a:r>
            <a:endParaRPr lang="en-US" sz="950" dirty="0"/>
          </a:p>
        </p:txBody>
      </p:sp>
      <p:sp>
        <p:nvSpPr>
          <p:cNvPr id="36" name="Text 32"/>
          <p:cNvSpPr/>
          <p:nvPr/>
        </p:nvSpPr>
        <p:spPr>
          <a:xfrm>
            <a:off x="2514600" y="299923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~1.0*</a:t>
            </a:r>
            <a:endParaRPr lang="en-US" sz="950" dirty="0"/>
          </a:p>
        </p:txBody>
      </p:sp>
      <p:sp>
        <p:nvSpPr>
          <p:cNvPr id="37" name="Text 33"/>
          <p:cNvSpPr/>
          <p:nvPr/>
        </p:nvSpPr>
        <p:spPr>
          <a:xfrm>
            <a:off x="4572000" y="299923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~1.0*</a:t>
            </a:r>
            <a:endParaRPr lang="en-US" sz="950" dirty="0"/>
          </a:p>
        </p:txBody>
      </p:sp>
      <p:sp>
        <p:nvSpPr>
          <p:cNvPr id="38" name="Text 34"/>
          <p:cNvSpPr/>
          <p:nvPr/>
        </p:nvSpPr>
        <p:spPr>
          <a:xfrm>
            <a:off x="6629400" y="299923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Выбрана — лучший результат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365760" y="3236976"/>
            <a:ext cx="8412480" cy="246888"/>
          </a:xfrm>
          <a:prstGeom prst="rect">
            <a:avLst/>
          </a:prstGeom>
          <a:solidFill>
            <a:srgbClr val="F9F9F9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0" name="Text 36"/>
          <p:cNvSpPr/>
          <p:nvPr/>
        </p:nvSpPr>
        <p:spPr>
          <a:xfrm>
            <a:off x="457200" y="3255264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950" dirty="0"/>
          </a:p>
        </p:txBody>
      </p:sp>
      <p:sp>
        <p:nvSpPr>
          <p:cNvPr id="41" name="Text 37"/>
          <p:cNvSpPr/>
          <p:nvPr/>
        </p:nvSpPr>
        <p:spPr>
          <a:xfrm>
            <a:off x="2514600" y="3255264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950" dirty="0"/>
          </a:p>
        </p:txBody>
      </p:sp>
      <p:sp>
        <p:nvSpPr>
          <p:cNvPr id="42" name="Text 38"/>
          <p:cNvSpPr/>
          <p:nvPr/>
        </p:nvSpPr>
        <p:spPr>
          <a:xfrm>
            <a:off x="4572000" y="3255264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950" dirty="0"/>
          </a:p>
        </p:txBody>
      </p:sp>
      <p:sp>
        <p:nvSpPr>
          <p:cNvPr id="43" name="Text 39"/>
          <p:cNvSpPr/>
          <p:nvPr/>
        </p:nvSpPr>
        <p:spPr>
          <a:xfrm>
            <a:off x="6629400" y="3255264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50" dirty="0"/>
          </a:p>
        </p:txBody>
      </p:sp>
      <p:sp>
        <p:nvSpPr>
          <p:cNvPr id="44" name="Shape 40"/>
          <p:cNvSpPr/>
          <p:nvPr/>
        </p:nvSpPr>
        <p:spPr>
          <a:xfrm>
            <a:off x="365760" y="3493008"/>
            <a:ext cx="841248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5" name="Text 41"/>
          <p:cNvSpPr/>
          <p:nvPr/>
        </p:nvSpPr>
        <p:spPr>
          <a:xfrm>
            <a:off x="457200" y="3511296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RandomForest</a:t>
            </a:r>
            <a:endParaRPr lang="en-US" sz="950" dirty="0"/>
          </a:p>
        </p:txBody>
      </p:sp>
      <p:sp>
        <p:nvSpPr>
          <p:cNvPr id="46" name="Text 42"/>
          <p:cNvSpPr/>
          <p:nvPr/>
        </p:nvSpPr>
        <p:spPr>
          <a:xfrm>
            <a:off x="2514600" y="3511296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950" dirty="0"/>
          </a:p>
        </p:txBody>
      </p:sp>
      <p:sp>
        <p:nvSpPr>
          <p:cNvPr id="47" name="Text 43"/>
          <p:cNvSpPr/>
          <p:nvPr/>
        </p:nvSpPr>
        <p:spPr>
          <a:xfrm>
            <a:off x="4572000" y="3511296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0.9998</a:t>
            </a:r>
            <a:endParaRPr lang="en-US" sz="950" dirty="0"/>
          </a:p>
        </p:txBody>
      </p:sp>
      <p:sp>
        <p:nvSpPr>
          <p:cNvPr id="48" name="Text 44"/>
          <p:cNvSpPr/>
          <p:nvPr/>
        </p:nvSpPr>
        <p:spPr>
          <a:xfrm>
            <a:off x="6629400" y="3511296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50" dirty="0"/>
          </a:p>
        </p:txBody>
      </p:sp>
      <p:sp>
        <p:nvSpPr>
          <p:cNvPr id="49" name="Shape 45"/>
          <p:cNvSpPr/>
          <p:nvPr/>
        </p:nvSpPr>
        <p:spPr>
          <a:xfrm>
            <a:off x="365760" y="3749040"/>
            <a:ext cx="8412480" cy="246888"/>
          </a:xfrm>
          <a:prstGeom prst="rect">
            <a:avLst/>
          </a:prstGeom>
          <a:solidFill>
            <a:srgbClr val="F9F9F9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0" name="Text 46"/>
          <p:cNvSpPr/>
          <p:nvPr/>
        </p:nvSpPr>
        <p:spPr>
          <a:xfrm>
            <a:off x="457200" y="376732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LogReg</a:t>
            </a:r>
            <a:endParaRPr lang="en-US" sz="950" dirty="0"/>
          </a:p>
        </p:txBody>
      </p:sp>
      <p:sp>
        <p:nvSpPr>
          <p:cNvPr id="51" name="Text 47"/>
          <p:cNvSpPr/>
          <p:nvPr/>
        </p:nvSpPr>
        <p:spPr>
          <a:xfrm>
            <a:off x="2514600" y="376732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950" dirty="0"/>
          </a:p>
        </p:txBody>
      </p:sp>
      <p:sp>
        <p:nvSpPr>
          <p:cNvPr id="52" name="Text 48"/>
          <p:cNvSpPr/>
          <p:nvPr/>
        </p:nvSpPr>
        <p:spPr>
          <a:xfrm>
            <a:off x="4572000" y="376732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0.9993</a:t>
            </a:r>
            <a:endParaRPr lang="en-US" sz="950" dirty="0"/>
          </a:p>
        </p:txBody>
      </p:sp>
      <p:sp>
        <p:nvSpPr>
          <p:cNvPr id="53" name="Text 49"/>
          <p:cNvSpPr/>
          <p:nvPr/>
        </p:nvSpPr>
        <p:spPr>
          <a:xfrm>
            <a:off x="6629400" y="376732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Бейзлайн</a:t>
            </a:r>
            <a:endParaRPr lang="en-US" sz="950" dirty="0"/>
          </a:p>
        </p:txBody>
      </p:sp>
      <p:sp>
        <p:nvSpPr>
          <p:cNvPr id="54" name="Text 50"/>
          <p:cNvSpPr/>
          <p:nvPr/>
        </p:nvSpPr>
        <p:spPr>
          <a:xfrm>
            <a:off x="365760" y="406908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Near-perfect separation on synthetic validation data. CV по 5 фолдам стабилен. На реальных данных метрики будут ниже.</a:t>
            </a:r>
            <a:endParaRPr lang="en-US" sz="750" dirty="0"/>
          </a:p>
        </p:txBody>
      </p:sp>
      <p:sp>
        <p:nvSpPr>
          <p:cNvPr id="55" name="Shape 51"/>
          <p:cNvSpPr/>
          <p:nvPr/>
        </p:nvSpPr>
        <p:spPr>
          <a:xfrm>
            <a:off x="365760" y="4297680"/>
            <a:ext cx="8412480" cy="274320"/>
          </a:xfrm>
          <a:prstGeom prst="rect">
            <a:avLst/>
          </a:prstGeom>
          <a:solidFill>
            <a:srgbClr val="F9F9F9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6" name="Text 52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Лучшие параметры LightGBM:  num_leaves=31  |  n_estimators=400  |  max_depth=8  |  learning_rate=0.1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 — ВИЗУАЛИЗАЦИЯ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48640"/>
            <a:ext cx="841248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7132320" y="4663440"/>
            <a:ext cx="1828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4681728"/>
            <a:ext cx="320040" cy="32004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4681728"/>
            <a:ext cx="128016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576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Распределение признаков: Бизнес vs Потребители vs Кандидаты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365760" y="1188720"/>
            <a:ext cx="8412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Вставить: feature_distributions.png ]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65760" y="45720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ноутбука участницы ML. Видно чёткое разделение бизнес (розовый) и потребителей (синий). Кандидаты (жёлтый) ближе к бизнес-паттерну.</a:t>
            </a:r>
            <a:endParaRPr lang="en-US" sz="85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33DEAF8-7280-CEAA-B21D-62CEB1127E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6123" y="1097280"/>
            <a:ext cx="4488873" cy="35034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ВРЕМЕННОЙ АНАЛИЗ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48640"/>
            <a:ext cx="841248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7132320" y="4663440"/>
            <a:ext cx="1828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4681728"/>
            <a:ext cx="320040" cy="32004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4681728"/>
            <a:ext cx="128016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576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Когда совершаются транзакции?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365760" y="1188720"/>
            <a:ext cx="8412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Вставить: heatmap_activity.png ]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65760" y="446227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наблюдения: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365760" y="46634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Бизнес-карты активны 9–18 ч по будням  |  Потребители — вечером и в выходные  |  Кандидаты ведут себя как бизнес</a:t>
            </a:r>
            <a:endParaRPr lang="en-US" sz="850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DC189B6-C048-50F7-4127-9492BC1860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1024128"/>
            <a:ext cx="8001000" cy="32088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48640"/>
            <a:ext cx="841248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7132320" y="4663440"/>
            <a:ext cx="1828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4681728"/>
            <a:ext cx="320040" cy="32004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4681728"/>
            <a:ext cx="128016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5760" y="6400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597 кандидатов</a:t>
            </a:r>
            <a:endParaRPr lang="en-US" sz="2800" dirty="0"/>
          </a:p>
        </p:txBody>
      </p:sp>
      <p:sp>
        <p:nvSpPr>
          <p:cNvPr id="9" name="Text 5"/>
          <p:cNvSpPr/>
          <p:nvPr/>
        </p:nvSpPr>
        <p:spPr>
          <a:xfrm>
            <a:off x="365760" y="11155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скрытых предпринимателей найдено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365760" y="1463040"/>
            <a:ext cx="4023360" cy="292608"/>
          </a:xfrm>
          <a:prstGeom prst="rect">
            <a:avLst/>
          </a:prstGeom>
          <a:solidFill>
            <a:srgbClr val="F9F9F9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Text 7"/>
          <p:cNvSpPr/>
          <p:nvPr/>
        </p:nvSpPr>
        <p:spPr>
          <a:xfrm>
            <a:off x="457200" y="14813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Средний чек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2468880" y="14813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355,359 тенге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65760" y="1764792"/>
            <a:ext cx="402336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Text 10"/>
          <p:cNvSpPr/>
          <p:nvPr/>
        </p:nvSpPr>
        <p:spPr>
          <a:xfrm>
            <a:off x="457200" y="1783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Оборот/год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2468880" y="17830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28,324,593 тенге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65760" y="2066544"/>
            <a:ext cx="4023360" cy="292608"/>
          </a:xfrm>
          <a:prstGeom prst="rect">
            <a:avLst/>
          </a:prstGeom>
          <a:solidFill>
            <a:srgbClr val="F9F9F9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Text 13"/>
          <p:cNvSpPr/>
          <p:nvPr/>
        </p:nvSpPr>
        <p:spPr>
          <a:xfrm>
            <a:off x="457200" y="20848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Онлайн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2468880" y="20848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365760" y="2368296"/>
            <a:ext cx="402336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Text 16"/>
          <p:cNvSpPr/>
          <p:nvPr/>
        </p:nvSpPr>
        <p:spPr>
          <a:xfrm>
            <a:off x="457200" y="238658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Рабочие часы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2468880" y="238658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65760" y="2670048"/>
            <a:ext cx="4023360" cy="292608"/>
          </a:xfrm>
          <a:prstGeom prst="rect">
            <a:avLst/>
          </a:prstGeom>
          <a:solidFill>
            <a:srgbClr val="F9F9F9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3" name="Text 19"/>
          <p:cNvSpPr/>
          <p:nvPr/>
        </p:nvSpPr>
        <p:spPr>
          <a:xfrm>
            <a:off x="457200" y="268833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Регулярные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2468880" y="268833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365760" y="2971800"/>
            <a:ext cx="402336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6" name="Text 22"/>
          <p:cNvSpPr/>
          <p:nvPr/>
        </p:nvSpPr>
        <p:spPr>
          <a:xfrm>
            <a:off x="457200" y="29900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Бизнес-MCC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2468880" y="29900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65760" y="3273552"/>
            <a:ext cx="4023360" cy="292608"/>
          </a:xfrm>
          <a:prstGeom prst="rect">
            <a:avLst/>
          </a:prstGeom>
          <a:solidFill>
            <a:srgbClr val="F9F9F9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9" name="Text 25"/>
          <p:cNvSpPr/>
          <p:nvPr/>
        </p:nvSpPr>
        <p:spPr>
          <a:xfrm>
            <a:off x="457200" y="32918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Торговцев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2468880" y="32918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365760" y="452628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355K — средний чек high-confidence кандидатов, не всех business cards (167K)</a:t>
            </a:r>
            <a:endParaRPr lang="en-US" sz="750" dirty="0"/>
          </a:p>
        </p:txBody>
      </p:sp>
      <p:sp>
        <p:nvSpPr>
          <p:cNvPr id="33" name="Text 29"/>
          <p:cNvSpPr/>
          <p:nvPr/>
        </p:nvSpPr>
        <p:spPr>
          <a:xfrm>
            <a:off x="4617720" y="1417320"/>
            <a:ext cx="41605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Вставить: portrait_final.png ]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365760" y="4251960"/>
            <a:ext cx="8412480" cy="256032"/>
          </a:xfrm>
          <a:prstGeom prst="rect">
            <a:avLst/>
          </a:prstGeom>
          <a:solidFill>
            <a:srgbClr val="FFF5F5"/>
          </a:solidFill>
          <a:ln w="635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5" name="Text 31"/>
          <p:cNvSpPr/>
          <p:nvPr/>
        </p:nvSpPr>
        <p:spPr>
          <a:xfrm>
            <a:off x="457200" y="4251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 кандидатов — цифровые предприниматели: доминирующая категория — Реклама (MCC 7311) — онлайн-продавцы e-commerce.</a:t>
            </a:r>
            <a:endParaRPr lang="en-US" sz="850" dirty="0"/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B2F38EF1-C33F-A7B9-2B9A-35598172CF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253" y="548640"/>
            <a:ext cx="3019922" cy="34497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СТРАТЕГИЯ МОНЕТИЗАЦИИ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48640"/>
            <a:ext cx="841248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7132320" y="4663440"/>
            <a:ext cx="1828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4681728"/>
            <a:ext cx="320040" cy="32004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4681728"/>
            <a:ext cx="128016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576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тира watchlist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365760" y="11155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результат модели — три бизнес-сценария для команды продаж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65760" y="1463040"/>
            <a:ext cx="265176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Shape 7"/>
          <p:cNvSpPr/>
          <p:nvPr/>
        </p:nvSpPr>
        <p:spPr>
          <a:xfrm>
            <a:off x="365760" y="1517904"/>
            <a:ext cx="2651760" cy="2834640"/>
          </a:xfrm>
          <a:prstGeom prst="rect">
            <a:avLst/>
          </a:prstGeom>
          <a:solidFill>
            <a:srgbClr val="F9F9F9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Text 8"/>
          <p:cNvSpPr/>
          <p:nvPr/>
        </p:nvSpPr>
        <p:spPr>
          <a:xfrm>
            <a:off x="365760" y="16002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ПРЕМИУМ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65760" y="1965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клиентов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475488" y="2423160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Личный обзвон менеджера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75488" y="2834640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Оборот: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475488" y="301752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3,137,129,257 тенге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75488" y="333756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Топ-100 по индексу похожести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3200400" y="1463040"/>
            <a:ext cx="2651760" cy="54864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Shape 15"/>
          <p:cNvSpPr/>
          <p:nvPr/>
        </p:nvSpPr>
        <p:spPr>
          <a:xfrm>
            <a:off x="3200400" y="1517904"/>
            <a:ext cx="2651760" cy="2834640"/>
          </a:xfrm>
          <a:prstGeom prst="rect">
            <a:avLst/>
          </a:prstGeom>
          <a:solidFill>
            <a:srgbClr val="F9F9F9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Text 16"/>
          <p:cNvSpPr/>
          <p:nvPr/>
        </p:nvSpPr>
        <p:spPr>
          <a:xfrm>
            <a:off x="3200400" y="16002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СРЕДНИЙ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3200400" y="1965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клиентов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3310128" y="2423160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Таргетированная кампания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310128" y="2834640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Оборот: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3310128" y="301752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5,599,966,611 тенге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3310128" y="333756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Позиции 101-300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6035040" y="1463040"/>
            <a:ext cx="2651760" cy="54864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7" name="Shape 23"/>
          <p:cNvSpPr/>
          <p:nvPr/>
        </p:nvSpPr>
        <p:spPr>
          <a:xfrm>
            <a:off x="6035040" y="1517904"/>
            <a:ext cx="2651760" cy="2834640"/>
          </a:xfrm>
          <a:prstGeom prst="rect">
            <a:avLst/>
          </a:prstGeom>
          <a:solidFill>
            <a:srgbClr val="F9F9F9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8" name="Text 24"/>
          <p:cNvSpPr/>
          <p:nvPr/>
        </p:nvSpPr>
        <p:spPr>
          <a:xfrm>
            <a:off x="6035040" y="16002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ШИРОКИЙ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6035040" y="1965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297 клиентов</a:t>
            </a:r>
            <a:endParaRPr lang="en-US" sz="2200" dirty="0"/>
          </a:p>
        </p:txBody>
      </p:sp>
      <p:sp>
        <p:nvSpPr>
          <p:cNvPr id="30" name="Text 26"/>
          <p:cNvSpPr/>
          <p:nvPr/>
        </p:nvSpPr>
        <p:spPr>
          <a:xfrm>
            <a:off x="6144768" y="2423160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Email-рассылка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6144768" y="2834640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Оборот: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6144768" y="301752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8,172,686,370 тенге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144768" y="333756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Остальные кандидаты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ДАШБОРД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48640"/>
            <a:ext cx="841248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7132320" y="4663440"/>
            <a:ext cx="1828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4681728"/>
            <a:ext cx="320040" cy="32004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4681728"/>
            <a:ext cx="128016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576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Интерактивный дашборд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365760" y="169164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Скрин Power BI — Обзор данных ]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65760" y="128016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Обзор данных (стр. 1)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4709160" y="169164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Скрин Power BI — Анализ MCC ]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709160" y="128016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MCC (стр. 2)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365760" y="338328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65760" y="297180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4709160" y="338328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709160" y="297180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66E99A97-3C45-5134-0DC1-EB622FD520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143000"/>
            <a:ext cx="2830334" cy="1596019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82FB517E-3CA5-9919-7D5F-43DB7660E3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1032954"/>
            <a:ext cx="3171908" cy="1753316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D674667E-E74E-98E8-1939-B4D3C07779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128" y="2963367"/>
            <a:ext cx="3392557" cy="1878381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D733E134-3A74-04ED-7E89-9CBB71DE3E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599" y="2956812"/>
            <a:ext cx="3171909" cy="15466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БИЗНЕС-ЦЕННОСТЬ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48640"/>
            <a:ext cx="841248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7132320" y="4663440"/>
            <a:ext cx="1828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4681728"/>
            <a:ext cx="320040" cy="32004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4681728"/>
            <a:ext cx="128016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576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Потенциальный доход Mastercard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365760" y="11155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Расчёт из ноутбука (cell 46). Ставки иллюстративные, требуют калибровки с заказчиком.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57200" y="1508760"/>
            <a:ext cx="8229600" cy="53035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Text 7"/>
          <p:cNvSpPr/>
          <p:nvPr/>
        </p:nvSpPr>
        <p:spPr>
          <a:xfrm>
            <a:off x="457200" y="150876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потребители  —  80,000 карт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1600200" y="2148840"/>
            <a:ext cx="5943600" cy="530352"/>
          </a:xfrm>
          <a:prstGeom prst="rect">
            <a:avLst/>
          </a:prstGeom>
          <a:solidFill>
            <a:srgbClr val="FFE0E0"/>
          </a:solidFill>
          <a:ln w="12700">
            <a:solidFill>
              <a:srgbClr val="FF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Text 9"/>
          <p:cNvSpPr/>
          <p:nvPr/>
        </p:nvSpPr>
        <p:spPr>
          <a:xfrm>
            <a:off x="1600200" y="2148840"/>
            <a:ext cx="5943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Найдено моделью  —  597 кандидатов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2651760" y="2788920"/>
            <a:ext cx="3840480" cy="530352"/>
          </a:xfrm>
          <a:prstGeom prst="rect">
            <a:avLst/>
          </a:prstGeom>
          <a:solidFill>
            <a:srgbClr val="FFCCCC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Text 11"/>
          <p:cNvSpPr/>
          <p:nvPr/>
        </p:nvSpPr>
        <p:spPr>
          <a:xfrm>
            <a:off x="2651760" y="278892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Конверсия 30%  —  179 новых клиентов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20040" y="3520440"/>
            <a:ext cx="2011680" cy="685800"/>
          </a:xfrm>
          <a:prstGeom prst="rect">
            <a:avLst/>
          </a:prstGeom>
          <a:solidFill>
            <a:srgbClr val="F9F9F9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Text 13"/>
          <p:cNvSpPr/>
          <p:nvPr/>
        </p:nvSpPr>
        <p:spPr>
          <a:xfrm>
            <a:off x="320040" y="35478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Эквайринг с оборота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320040" y="37947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76,094,020 тенге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2468880" y="3520440"/>
            <a:ext cx="2011680" cy="685800"/>
          </a:xfrm>
          <a:prstGeom prst="rect">
            <a:avLst/>
          </a:prstGeom>
          <a:solidFill>
            <a:srgbClr val="F9F9F9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Text 16"/>
          <p:cNvSpPr/>
          <p:nvPr/>
        </p:nvSpPr>
        <p:spPr>
          <a:xfrm>
            <a:off x="2468880" y="35478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Кредиты на оборотку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2468880" y="37947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10,740,000 тенге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617720" y="3520440"/>
            <a:ext cx="2011680" cy="685800"/>
          </a:xfrm>
          <a:prstGeom prst="rect">
            <a:avLst/>
          </a:prstGeom>
          <a:solidFill>
            <a:srgbClr val="F9F9F9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3" name="Text 19"/>
          <p:cNvSpPr/>
          <p:nvPr/>
        </p:nvSpPr>
        <p:spPr>
          <a:xfrm>
            <a:off x="4617720" y="35478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Зарплатные проекты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4617720" y="37947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1,342,500 тенге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6766560" y="3520440"/>
            <a:ext cx="2011680" cy="685800"/>
          </a:xfrm>
          <a:prstGeom prst="rect">
            <a:avLst/>
          </a:prstGeom>
          <a:solidFill>
            <a:srgbClr val="CC0000"/>
          </a:solidFill>
          <a:ln w="635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6" name="Text 22"/>
          <p:cNvSpPr/>
          <p:nvPr/>
        </p:nvSpPr>
        <p:spPr>
          <a:xfrm>
            <a:off x="6766560" y="35478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ИТОГО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6766560" y="37947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88,176,520 тенге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ОГРАНИЧЕНИЯ И РЕКОМЕНДАЦИИ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48640"/>
            <a:ext cx="841248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7132320" y="4663440"/>
            <a:ext cx="1828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4681728"/>
            <a:ext cx="320040" cy="32004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4681728"/>
            <a:ext cx="128016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576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considerations</a:t>
            </a:r>
            <a:endParaRPr lang="en-US" sz="2400" dirty="0"/>
          </a:p>
        </p:txBody>
      </p:sp>
      <p:sp>
        <p:nvSpPr>
          <p:cNvPr id="9" name="Shape 5"/>
          <p:cNvSpPr/>
          <p:nvPr/>
        </p:nvSpPr>
        <p:spPr>
          <a:xfrm>
            <a:off x="365760" y="1298448"/>
            <a:ext cx="4069080" cy="1261872"/>
          </a:xfrm>
          <a:prstGeom prst="rect">
            <a:avLst/>
          </a:prstGeom>
          <a:solidFill>
            <a:srgbClr val="F9F9F9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Text 6"/>
          <p:cNvSpPr/>
          <p:nvPr/>
        </p:nvSpPr>
        <p:spPr>
          <a:xfrm>
            <a:off x="502920" y="13898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data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02920" y="169164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~1.0 обусловлен сильным разделением классов в synthetic dataset. На реальных данных метрики будут ниже. Требует калибровки.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709160" y="1298448"/>
            <a:ext cx="4069080" cy="1261872"/>
          </a:xfrm>
          <a:prstGeom prst="rect">
            <a:avLst/>
          </a:prstGeom>
          <a:solidFill>
            <a:srgbClr val="F9F9F9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Text 9"/>
          <p:cNvSpPr/>
          <p:nvPr/>
        </p:nvSpPr>
        <p:spPr>
          <a:xfrm>
            <a:off x="4846320" y="13898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расходы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846320" y="169164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Видны только траты клиента, не входящие платежи. Бизнес определяется косвенно по структуре расходов.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65760" y="2715768"/>
            <a:ext cx="4069080" cy="1261872"/>
          </a:xfrm>
          <a:prstGeom prst="rect">
            <a:avLst/>
          </a:prstGeom>
          <a:solidFill>
            <a:srgbClr val="F9F9F9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2"/>
          <p:cNvSpPr/>
          <p:nvPr/>
        </p:nvSpPr>
        <p:spPr>
          <a:xfrm>
            <a:off x="502920" y="28072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02920" y="310896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creators, freelancers, heavy online users могут давать ложные срабатывания. Финальное решение — менеджер.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709160" y="2715768"/>
            <a:ext cx="4069080" cy="1261872"/>
          </a:xfrm>
          <a:prstGeom prst="rect">
            <a:avLst/>
          </a:prstGeom>
          <a:solidFill>
            <a:srgbClr val="F9F9F9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Text 15"/>
          <p:cNvSpPr/>
          <p:nvPr/>
        </p:nvSpPr>
        <p:spPr>
          <a:xfrm>
            <a:off x="4846320" y="28072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v2.0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846320" y="310896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Дообучить на реальных данных. Добавить входящие платежи. NLP по мерчантам. Real-time скоринг раз в квартал.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365760" y="4315968"/>
            <a:ext cx="8412480" cy="384048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Рекомендации: (1) Комбинация аномалий + правила для watchlist  |  (2) Ранжированный список, не бинарный вердикт  |  (3) Дообогатить входящими платежами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253BA536-ACBF-A54F-0D93-6194ECB8915B}"/>
              </a:ext>
            </a:extLst>
          </p:cNvPr>
          <p:cNvSpPr/>
          <p:nvPr/>
        </p:nvSpPr>
        <p:spPr>
          <a:xfrm>
            <a:off x="365760" y="20116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ACAEB4C-1838-8F6D-9C7D-FED931AA1BB1}"/>
              </a:ext>
            </a:extLst>
          </p:cNvPr>
          <p:cNvSpPr/>
          <p:nvPr/>
        </p:nvSpPr>
        <p:spPr>
          <a:xfrm>
            <a:off x="777240" y="20116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ДЕМО-ПРИЛОЖЕНИЕ</a:t>
            </a:r>
            <a:endParaRPr lang="en-US" sz="9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9AD43738-0992-2D8F-B9C9-E2D270BC8263}"/>
              </a:ext>
            </a:extLst>
          </p:cNvPr>
          <p:cNvSpPr/>
          <p:nvPr/>
        </p:nvSpPr>
        <p:spPr>
          <a:xfrm>
            <a:off x="365760" y="502920"/>
            <a:ext cx="841248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5D67919-CAE7-3B58-E062-00E06AC2769A}"/>
              </a:ext>
            </a:extLst>
          </p:cNvPr>
          <p:cNvSpPr/>
          <p:nvPr/>
        </p:nvSpPr>
        <p:spPr>
          <a:xfrm>
            <a:off x="36576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приложение</a:t>
            </a:r>
            <a:endParaRPr lang="en-US" sz="26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5545983-5A19-8479-FD88-84FB6B4013D3}"/>
              </a:ext>
            </a:extLst>
          </p:cNvPr>
          <p:cNvSpPr/>
          <p:nvPr/>
        </p:nvSpPr>
        <p:spPr>
          <a:xfrm>
            <a:off x="365760" y="10789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Интерактивное демо для команды продаж Mastercard</a:t>
            </a:r>
            <a:endParaRPr lang="en-US" sz="11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656F2280-5776-92C0-98B6-3B066682F18F}"/>
              </a:ext>
            </a:extLst>
          </p:cNvPr>
          <p:cNvSpPr/>
          <p:nvPr/>
        </p:nvSpPr>
        <p:spPr>
          <a:xfrm>
            <a:off x="365760" y="1417320"/>
            <a:ext cx="4754880" cy="30175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dash"/>
          </a:ln>
        </p:spPr>
        <p:txBody>
          <a:bodyPr/>
          <a:lstStyle/>
          <a:p>
            <a:endParaRPr lang="ru-KZ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255DAAB-B184-B164-2EA0-54DFAC69BF38}"/>
              </a:ext>
            </a:extLst>
          </p:cNvPr>
          <p:cNvSpPr/>
          <p:nvPr/>
        </p:nvSpPr>
        <p:spPr>
          <a:xfrm>
            <a:off x="365760" y="1417320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Скрин Streamlit — вставить ]</a:t>
            </a:r>
            <a:endParaRPr lang="en-US" sz="12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BDD66816-0441-C72E-2FA5-1A7F096CFB2F}"/>
              </a:ext>
            </a:extLst>
          </p:cNvPr>
          <p:cNvSpPr/>
          <p:nvPr/>
        </p:nvSpPr>
        <p:spPr>
          <a:xfrm>
            <a:off x="5349240" y="1417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разделов приложения</a:t>
            </a:r>
            <a:endParaRPr lang="en-US" sz="10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5FCC1007-6B12-85F8-19CE-E8FB0D624C8F}"/>
              </a:ext>
            </a:extLst>
          </p:cNvPr>
          <p:cNvSpPr/>
          <p:nvPr/>
        </p:nvSpPr>
        <p:spPr>
          <a:xfrm>
            <a:off x="5349240" y="1783080"/>
            <a:ext cx="3566160" cy="393192"/>
          </a:xfrm>
          <a:prstGeom prst="rect">
            <a:avLst/>
          </a:prstGeom>
          <a:solidFill>
            <a:srgbClr val="F9F9F9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A2B0A931-FA36-E974-B014-E899183BE5FF}"/>
              </a:ext>
            </a:extLst>
          </p:cNvPr>
          <p:cNvSpPr/>
          <p:nvPr/>
        </p:nvSpPr>
        <p:spPr>
          <a:xfrm>
            <a:off x="5349240" y="1783080"/>
            <a:ext cx="45720" cy="3931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5EDE24BF-7FF1-FBE6-3565-9014D0CBD766}"/>
              </a:ext>
            </a:extLst>
          </p:cNvPr>
          <p:cNvSpPr/>
          <p:nvPr/>
        </p:nvSpPr>
        <p:spPr>
          <a:xfrm>
            <a:off x="5458968" y="18288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</a:t>
            </a:r>
            <a:endParaRPr lang="en-US" sz="95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D59D885-7520-EAB0-134D-90A109B2917B}"/>
              </a:ext>
            </a:extLst>
          </p:cNvPr>
          <p:cNvSpPr/>
          <p:nvPr/>
        </p:nvSpPr>
        <p:spPr>
          <a:xfrm>
            <a:off x="5458968" y="1993392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и описание задачи</a:t>
            </a:r>
            <a:endParaRPr lang="en-US" sz="85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69992B71-1AED-7AE0-58B5-A2A082D4287D}"/>
              </a:ext>
            </a:extLst>
          </p:cNvPr>
          <p:cNvSpPr/>
          <p:nvPr/>
        </p:nvSpPr>
        <p:spPr>
          <a:xfrm>
            <a:off x="5349240" y="2231136"/>
            <a:ext cx="356616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6783E1AA-17E9-250E-A865-EB10F7D6ABCB}"/>
              </a:ext>
            </a:extLst>
          </p:cNvPr>
          <p:cNvSpPr/>
          <p:nvPr/>
        </p:nvSpPr>
        <p:spPr>
          <a:xfrm>
            <a:off x="5349240" y="2231136"/>
            <a:ext cx="45720" cy="3931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1734D446-0872-90D0-2E97-C3C58E673EEA}"/>
              </a:ext>
            </a:extLst>
          </p:cNvPr>
          <p:cNvSpPr/>
          <p:nvPr/>
        </p:nvSpPr>
        <p:spPr>
          <a:xfrm>
            <a:off x="5458968" y="227685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Детектор</a:t>
            </a:r>
            <a:endParaRPr lang="en-US" sz="95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3C2660C1-7526-B961-D509-D9C6A982789E}"/>
              </a:ext>
            </a:extLst>
          </p:cNvPr>
          <p:cNvSpPr/>
          <p:nvPr/>
        </p:nvSpPr>
        <p:spPr>
          <a:xfrm>
            <a:off x="5458968" y="2441448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Вводишь параметры → % вероятности</a:t>
            </a:r>
            <a:endParaRPr lang="en-US" sz="85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341E6117-D033-7143-BB6B-64790365A400}"/>
              </a:ext>
            </a:extLst>
          </p:cNvPr>
          <p:cNvSpPr/>
          <p:nvPr/>
        </p:nvSpPr>
        <p:spPr>
          <a:xfrm>
            <a:off x="5349240" y="2679192"/>
            <a:ext cx="3566160" cy="393192"/>
          </a:xfrm>
          <a:prstGeom prst="rect">
            <a:avLst/>
          </a:prstGeom>
          <a:solidFill>
            <a:srgbClr val="F9F9F9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E2C86CA5-A57D-CEC8-617B-3EB124023262}"/>
              </a:ext>
            </a:extLst>
          </p:cNvPr>
          <p:cNvSpPr/>
          <p:nvPr/>
        </p:nvSpPr>
        <p:spPr>
          <a:xfrm>
            <a:off x="5349240" y="2679192"/>
            <a:ext cx="45720" cy="3931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D563751B-AE27-15E9-0DBC-8F25E3194497}"/>
              </a:ext>
            </a:extLst>
          </p:cNvPr>
          <p:cNvSpPr/>
          <p:nvPr/>
        </p:nvSpPr>
        <p:spPr>
          <a:xfrm>
            <a:off x="5458968" y="272491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ROI-калькулятор</a:t>
            </a:r>
            <a:endParaRPr lang="en-US" sz="95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E28D150C-AE2E-E7C6-BED2-70A890766804}"/>
              </a:ext>
            </a:extLst>
          </p:cNvPr>
          <p:cNvSpPr/>
          <p:nvPr/>
        </p:nvSpPr>
        <p:spPr>
          <a:xfrm>
            <a:off x="5458968" y="2889504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Считает доход при разных сценариях</a:t>
            </a:r>
            <a:endParaRPr lang="en-US" sz="850" dirty="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2B462349-83B1-F689-08F3-B509E674DAB5}"/>
              </a:ext>
            </a:extLst>
          </p:cNvPr>
          <p:cNvSpPr/>
          <p:nvPr/>
        </p:nvSpPr>
        <p:spPr>
          <a:xfrm>
            <a:off x="5349240" y="3127248"/>
            <a:ext cx="356616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479ADDD7-D194-60FB-D9E7-3A43EFC1799F}"/>
              </a:ext>
            </a:extLst>
          </p:cNvPr>
          <p:cNvSpPr/>
          <p:nvPr/>
        </p:nvSpPr>
        <p:spPr>
          <a:xfrm>
            <a:off x="5349240" y="3127248"/>
            <a:ext cx="45720" cy="3931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E50B6395-3B31-E93D-2859-12F957F2EE92}"/>
              </a:ext>
            </a:extLst>
          </p:cNvPr>
          <p:cNvSpPr/>
          <p:nvPr/>
        </p:nvSpPr>
        <p:spPr>
          <a:xfrm>
            <a:off x="5458968" y="317296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Портрет кандидата</a:t>
            </a:r>
            <a:endParaRPr lang="en-US" sz="950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61AA3C89-19FD-76C2-313F-2FC5A45E66B7}"/>
              </a:ext>
            </a:extLst>
          </p:cNvPr>
          <p:cNvSpPr/>
          <p:nvPr/>
        </p:nvSpPr>
        <p:spPr>
          <a:xfrm>
            <a:off x="5458968" y="3337560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chart с реальными цифрами</a:t>
            </a:r>
            <a:endParaRPr lang="en-US" sz="850" dirty="0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84A8BD17-94E7-91A1-F589-5B68F83636E0}"/>
              </a:ext>
            </a:extLst>
          </p:cNvPr>
          <p:cNvSpPr/>
          <p:nvPr/>
        </p:nvSpPr>
        <p:spPr>
          <a:xfrm>
            <a:off x="5349240" y="3575304"/>
            <a:ext cx="3566160" cy="393192"/>
          </a:xfrm>
          <a:prstGeom prst="rect">
            <a:avLst/>
          </a:prstGeom>
          <a:solidFill>
            <a:srgbClr val="F9F9F9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E68436E6-1C71-E91C-29B3-FC84C2CCE940}"/>
              </a:ext>
            </a:extLst>
          </p:cNvPr>
          <p:cNvSpPr/>
          <p:nvPr/>
        </p:nvSpPr>
        <p:spPr>
          <a:xfrm>
            <a:off x="5349240" y="3575304"/>
            <a:ext cx="45720" cy="3931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1D620155-A38A-DFB9-5DA4-0CBDBB31DCC4}"/>
              </a:ext>
            </a:extLst>
          </p:cNvPr>
          <p:cNvSpPr/>
          <p:nvPr/>
        </p:nvSpPr>
        <p:spPr>
          <a:xfrm>
            <a:off x="5458968" y="362102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Гипотезы</a:t>
            </a:r>
            <a:endParaRPr lang="en-US" sz="950" dirty="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737B9178-D098-431B-9AFA-DA3FF69232A2}"/>
              </a:ext>
            </a:extLst>
          </p:cNvPr>
          <p:cNvSpPr/>
          <p:nvPr/>
        </p:nvSpPr>
        <p:spPr>
          <a:xfrm>
            <a:off x="5458968" y="3785616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признаков с объяснениями</a:t>
            </a:r>
            <a:endParaRPr lang="en-US" sz="850" dirty="0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57E5FDBE-A6CC-87C8-10CD-EF6E25BCE777}"/>
              </a:ext>
            </a:extLst>
          </p:cNvPr>
          <p:cNvSpPr/>
          <p:nvPr/>
        </p:nvSpPr>
        <p:spPr>
          <a:xfrm>
            <a:off x="5349240" y="4023360"/>
            <a:ext cx="356616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8CC2A452-2FA9-006E-D7A3-8DA3E50A4035}"/>
              </a:ext>
            </a:extLst>
          </p:cNvPr>
          <p:cNvSpPr/>
          <p:nvPr/>
        </p:nvSpPr>
        <p:spPr>
          <a:xfrm>
            <a:off x="5349240" y="4023360"/>
            <a:ext cx="45720" cy="3931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5B5C2046-2455-51B4-F222-DBC770DCB982}"/>
              </a:ext>
            </a:extLst>
          </p:cNvPr>
          <p:cNvSpPr/>
          <p:nvPr/>
        </p:nvSpPr>
        <p:spPr>
          <a:xfrm>
            <a:off x="5458968" y="406908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</a:t>
            </a:r>
            <a:endParaRPr lang="en-US" sz="950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8C77209F-6760-F752-277B-93749F80D49F}"/>
              </a:ext>
            </a:extLst>
          </p:cNvPr>
          <p:cNvSpPr/>
          <p:nvPr/>
        </p:nvSpPr>
        <p:spPr>
          <a:xfrm>
            <a:off x="5458968" y="4233672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Таблицы и выводы из модели</a:t>
            </a:r>
            <a:endParaRPr lang="en-US" sz="850" dirty="0"/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C08C8DE7-3EB6-65BB-D60E-F4C09DFFD618}"/>
              </a:ext>
            </a:extLst>
          </p:cNvPr>
          <p:cNvSpPr/>
          <p:nvPr/>
        </p:nvSpPr>
        <p:spPr>
          <a:xfrm>
            <a:off x="365760" y="4498848"/>
            <a:ext cx="4754880" cy="256032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EE526517-F102-AF7C-BC23-29E3B49B59C0}"/>
              </a:ext>
            </a:extLst>
          </p:cNvPr>
          <p:cNvSpPr/>
          <p:nvPr/>
        </p:nvSpPr>
        <p:spPr>
          <a:xfrm>
            <a:off x="457200" y="449884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streamlit_app.py</a:t>
            </a:r>
            <a:endParaRPr lang="en-US" sz="950" dirty="0"/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71CEA1DC-F78A-3FB6-6BB3-A846FB086396}"/>
              </a:ext>
            </a:extLst>
          </p:cNvPr>
          <p:cNvSpPr/>
          <p:nvPr/>
        </p:nvSpPr>
        <p:spPr>
          <a:xfrm>
            <a:off x="7132320" y="4663440"/>
            <a:ext cx="1828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38" name="Image 0" descr="preencoded.png">
            <a:extLst>
              <a:ext uri="{FF2B5EF4-FFF2-40B4-BE49-F238E27FC236}">
                <a16:creationId xmlns:a16="http://schemas.microsoft.com/office/drawing/2014/main" id="{A46C9936-8C96-CA57-7127-3FA69B135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4681728"/>
            <a:ext cx="320040" cy="320040"/>
          </a:xfrm>
          <a:prstGeom prst="rect">
            <a:avLst/>
          </a:prstGeom>
        </p:spPr>
      </p:pic>
      <p:pic>
        <p:nvPicPr>
          <p:cNvPr id="39" name="Image 1" descr="preencoded.png">
            <a:extLst>
              <a:ext uri="{FF2B5EF4-FFF2-40B4-BE49-F238E27FC236}">
                <a16:creationId xmlns:a16="http://schemas.microsoft.com/office/drawing/2014/main" id="{517060A2-5E99-62DC-8483-5A2CBEB8F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4700016"/>
            <a:ext cx="1234440" cy="292608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CDD3CB3B-FBBF-BAFC-F404-7CDD46C442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166" y="1545336"/>
            <a:ext cx="5074252" cy="2889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686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0">
            <a:extLst>
              <a:ext uri="{FF2B5EF4-FFF2-40B4-BE49-F238E27FC236}">
                <a16:creationId xmlns:a16="http://schemas.microsoft.com/office/drawing/2014/main" id="{CC759879-3314-362F-D3E8-B5873C430FAD}"/>
              </a:ext>
            </a:extLst>
          </p:cNvPr>
          <p:cNvSpPr/>
          <p:nvPr/>
        </p:nvSpPr>
        <p:spPr>
          <a:xfrm>
            <a:off x="365760" y="20116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42" name="Text 1">
            <a:extLst>
              <a:ext uri="{FF2B5EF4-FFF2-40B4-BE49-F238E27FC236}">
                <a16:creationId xmlns:a16="http://schemas.microsoft.com/office/drawing/2014/main" id="{0818A9DD-9E5C-5B93-70D9-52A642A00656}"/>
              </a:ext>
            </a:extLst>
          </p:cNvPr>
          <p:cNvSpPr/>
          <p:nvPr/>
        </p:nvSpPr>
        <p:spPr>
          <a:xfrm>
            <a:off x="777240" y="20116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ДЕМО-ПРИЛОЖЕНИЕ</a:t>
            </a:r>
            <a:endParaRPr lang="en-US" sz="900" dirty="0"/>
          </a:p>
        </p:txBody>
      </p:sp>
      <p:sp>
        <p:nvSpPr>
          <p:cNvPr id="43" name="Shape 2">
            <a:extLst>
              <a:ext uri="{FF2B5EF4-FFF2-40B4-BE49-F238E27FC236}">
                <a16:creationId xmlns:a16="http://schemas.microsoft.com/office/drawing/2014/main" id="{232AB709-5ABA-6885-79BF-758E2DCF8568}"/>
              </a:ext>
            </a:extLst>
          </p:cNvPr>
          <p:cNvSpPr/>
          <p:nvPr/>
        </p:nvSpPr>
        <p:spPr>
          <a:xfrm>
            <a:off x="365760" y="502920"/>
            <a:ext cx="841248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4" name="Text 3">
            <a:extLst>
              <a:ext uri="{FF2B5EF4-FFF2-40B4-BE49-F238E27FC236}">
                <a16:creationId xmlns:a16="http://schemas.microsoft.com/office/drawing/2014/main" id="{1054FC46-3203-A967-67CB-1DBBAADE1B48}"/>
              </a:ext>
            </a:extLst>
          </p:cNvPr>
          <p:cNvSpPr/>
          <p:nvPr/>
        </p:nvSpPr>
        <p:spPr>
          <a:xfrm>
            <a:off x="148046" y="493776"/>
            <a:ext cx="3781698" cy="3931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приложение</a:t>
            </a:r>
            <a:endParaRPr lang="en-US" sz="2600" dirty="0"/>
          </a:p>
        </p:txBody>
      </p:sp>
      <p:sp>
        <p:nvSpPr>
          <p:cNvPr id="45" name="Text 6">
            <a:extLst>
              <a:ext uri="{FF2B5EF4-FFF2-40B4-BE49-F238E27FC236}">
                <a16:creationId xmlns:a16="http://schemas.microsoft.com/office/drawing/2014/main" id="{0F1DCB07-9EB3-BF8C-DA69-301733270554}"/>
              </a:ext>
            </a:extLst>
          </p:cNvPr>
          <p:cNvSpPr/>
          <p:nvPr/>
        </p:nvSpPr>
        <p:spPr>
          <a:xfrm>
            <a:off x="365760" y="1417320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46" name="Shape 8">
            <a:extLst>
              <a:ext uri="{FF2B5EF4-FFF2-40B4-BE49-F238E27FC236}">
                <a16:creationId xmlns:a16="http://schemas.microsoft.com/office/drawing/2014/main" id="{1E46B001-864F-DCBC-D77B-99A4C3972895}"/>
              </a:ext>
            </a:extLst>
          </p:cNvPr>
          <p:cNvSpPr/>
          <p:nvPr/>
        </p:nvSpPr>
        <p:spPr>
          <a:xfrm>
            <a:off x="170905" y="995850"/>
            <a:ext cx="1457197" cy="333902"/>
          </a:xfrm>
          <a:prstGeom prst="rect">
            <a:avLst/>
          </a:prstGeom>
          <a:solidFill>
            <a:srgbClr val="F9F9F9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7" name="Shape 9">
            <a:extLst>
              <a:ext uri="{FF2B5EF4-FFF2-40B4-BE49-F238E27FC236}">
                <a16:creationId xmlns:a16="http://schemas.microsoft.com/office/drawing/2014/main" id="{59889198-393A-AB45-4992-C3048E90C564}"/>
              </a:ext>
            </a:extLst>
          </p:cNvPr>
          <p:cNvSpPr/>
          <p:nvPr/>
        </p:nvSpPr>
        <p:spPr>
          <a:xfrm>
            <a:off x="148044" y="977562"/>
            <a:ext cx="48297" cy="33390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8" name="Text 10">
            <a:extLst>
              <a:ext uri="{FF2B5EF4-FFF2-40B4-BE49-F238E27FC236}">
                <a16:creationId xmlns:a16="http://schemas.microsoft.com/office/drawing/2014/main" id="{736888BF-2201-1E76-086F-FB89BE8DE707}"/>
              </a:ext>
            </a:extLst>
          </p:cNvPr>
          <p:cNvSpPr/>
          <p:nvPr/>
        </p:nvSpPr>
        <p:spPr>
          <a:xfrm>
            <a:off x="257772" y="1023282"/>
            <a:ext cx="1255729" cy="1553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</a:t>
            </a:r>
            <a:endParaRPr lang="en-US" sz="950" dirty="0"/>
          </a:p>
        </p:txBody>
      </p:sp>
      <p:sp>
        <p:nvSpPr>
          <p:cNvPr id="49" name="Text 11">
            <a:extLst>
              <a:ext uri="{FF2B5EF4-FFF2-40B4-BE49-F238E27FC236}">
                <a16:creationId xmlns:a16="http://schemas.microsoft.com/office/drawing/2014/main" id="{0106A15E-E4F1-1B0C-BBC5-DB0C5E6AE47D}"/>
              </a:ext>
            </a:extLst>
          </p:cNvPr>
          <p:cNvSpPr/>
          <p:nvPr/>
        </p:nvSpPr>
        <p:spPr>
          <a:xfrm>
            <a:off x="257773" y="1179576"/>
            <a:ext cx="3573997" cy="1397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и описание задачи</a:t>
            </a:r>
            <a:endParaRPr lang="en-US" sz="850" dirty="0"/>
          </a:p>
        </p:txBody>
      </p:sp>
      <p:sp>
        <p:nvSpPr>
          <p:cNvPr id="50" name="Shape 12">
            <a:extLst>
              <a:ext uri="{FF2B5EF4-FFF2-40B4-BE49-F238E27FC236}">
                <a16:creationId xmlns:a16="http://schemas.microsoft.com/office/drawing/2014/main" id="{FC687C34-A879-A18C-5EC8-A975D536BEAC}"/>
              </a:ext>
            </a:extLst>
          </p:cNvPr>
          <p:cNvSpPr/>
          <p:nvPr/>
        </p:nvSpPr>
        <p:spPr>
          <a:xfrm>
            <a:off x="148045" y="1425618"/>
            <a:ext cx="2248021" cy="333902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1" name="Shape 13">
            <a:extLst>
              <a:ext uri="{FF2B5EF4-FFF2-40B4-BE49-F238E27FC236}">
                <a16:creationId xmlns:a16="http://schemas.microsoft.com/office/drawing/2014/main" id="{8E31A8DF-79FB-DFFB-F10D-8ED662A062A7}"/>
              </a:ext>
            </a:extLst>
          </p:cNvPr>
          <p:cNvSpPr/>
          <p:nvPr/>
        </p:nvSpPr>
        <p:spPr>
          <a:xfrm>
            <a:off x="148044" y="1425618"/>
            <a:ext cx="48297" cy="33390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2" name="Text 14">
            <a:extLst>
              <a:ext uri="{FF2B5EF4-FFF2-40B4-BE49-F238E27FC236}">
                <a16:creationId xmlns:a16="http://schemas.microsoft.com/office/drawing/2014/main" id="{60D46617-09C4-C139-EC0A-B3B609697A5E}"/>
              </a:ext>
            </a:extLst>
          </p:cNvPr>
          <p:cNvSpPr/>
          <p:nvPr/>
        </p:nvSpPr>
        <p:spPr>
          <a:xfrm>
            <a:off x="257772" y="1471338"/>
            <a:ext cx="1255729" cy="1553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Детектор</a:t>
            </a:r>
            <a:endParaRPr lang="en-US" sz="950" dirty="0"/>
          </a:p>
        </p:txBody>
      </p:sp>
      <p:sp>
        <p:nvSpPr>
          <p:cNvPr id="53" name="Text 15">
            <a:extLst>
              <a:ext uri="{FF2B5EF4-FFF2-40B4-BE49-F238E27FC236}">
                <a16:creationId xmlns:a16="http://schemas.microsoft.com/office/drawing/2014/main" id="{F387460B-D393-3905-046B-9611CB1DA8A6}"/>
              </a:ext>
            </a:extLst>
          </p:cNvPr>
          <p:cNvSpPr/>
          <p:nvPr/>
        </p:nvSpPr>
        <p:spPr>
          <a:xfrm>
            <a:off x="257773" y="1627632"/>
            <a:ext cx="3573997" cy="1397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Вводишь параметры → % вероятности</a:t>
            </a:r>
            <a:endParaRPr lang="en-US" sz="850" dirty="0"/>
          </a:p>
        </p:txBody>
      </p:sp>
      <p:sp>
        <p:nvSpPr>
          <p:cNvPr id="54" name="Shape 16">
            <a:extLst>
              <a:ext uri="{FF2B5EF4-FFF2-40B4-BE49-F238E27FC236}">
                <a16:creationId xmlns:a16="http://schemas.microsoft.com/office/drawing/2014/main" id="{DE764A21-F833-DAF4-877E-02CF3CD806FA}"/>
              </a:ext>
            </a:extLst>
          </p:cNvPr>
          <p:cNvSpPr/>
          <p:nvPr/>
        </p:nvSpPr>
        <p:spPr>
          <a:xfrm>
            <a:off x="148045" y="1873674"/>
            <a:ext cx="2248021" cy="333902"/>
          </a:xfrm>
          <a:prstGeom prst="rect">
            <a:avLst/>
          </a:prstGeom>
          <a:solidFill>
            <a:srgbClr val="F9F9F9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5" name="Shape 17">
            <a:extLst>
              <a:ext uri="{FF2B5EF4-FFF2-40B4-BE49-F238E27FC236}">
                <a16:creationId xmlns:a16="http://schemas.microsoft.com/office/drawing/2014/main" id="{643A38F5-DF00-B7F0-64F7-22984EA547E9}"/>
              </a:ext>
            </a:extLst>
          </p:cNvPr>
          <p:cNvSpPr/>
          <p:nvPr/>
        </p:nvSpPr>
        <p:spPr>
          <a:xfrm>
            <a:off x="148044" y="1873674"/>
            <a:ext cx="48297" cy="33390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6" name="Text 18">
            <a:extLst>
              <a:ext uri="{FF2B5EF4-FFF2-40B4-BE49-F238E27FC236}">
                <a16:creationId xmlns:a16="http://schemas.microsoft.com/office/drawing/2014/main" id="{7CBCC7CA-5E0C-A83A-C323-86F2E0092D6A}"/>
              </a:ext>
            </a:extLst>
          </p:cNvPr>
          <p:cNvSpPr/>
          <p:nvPr/>
        </p:nvSpPr>
        <p:spPr>
          <a:xfrm>
            <a:off x="257772" y="1919394"/>
            <a:ext cx="1255729" cy="1553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ROI-калькулятор</a:t>
            </a:r>
            <a:endParaRPr lang="en-US" sz="950" dirty="0"/>
          </a:p>
        </p:txBody>
      </p:sp>
      <p:sp>
        <p:nvSpPr>
          <p:cNvPr id="57" name="Text 19">
            <a:extLst>
              <a:ext uri="{FF2B5EF4-FFF2-40B4-BE49-F238E27FC236}">
                <a16:creationId xmlns:a16="http://schemas.microsoft.com/office/drawing/2014/main" id="{85B97350-4ACF-9D63-776A-4530E1BE42EE}"/>
              </a:ext>
            </a:extLst>
          </p:cNvPr>
          <p:cNvSpPr/>
          <p:nvPr/>
        </p:nvSpPr>
        <p:spPr>
          <a:xfrm>
            <a:off x="257773" y="2075688"/>
            <a:ext cx="3573997" cy="1397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Считает доход при разных сценариях</a:t>
            </a:r>
            <a:endParaRPr lang="en-US" sz="850" dirty="0"/>
          </a:p>
        </p:txBody>
      </p:sp>
      <p:sp>
        <p:nvSpPr>
          <p:cNvPr id="58" name="Shape 20">
            <a:extLst>
              <a:ext uri="{FF2B5EF4-FFF2-40B4-BE49-F238E27FC236}">
                <a16:creationId xmlns:a16="http://schemas.microsoft.com/office/drawing/2014/main" id="{000C9C3B-DF6E-41BE-ADC1-F2FF59C35CD0}"/>
              </a:ext>
            </a:extLst>
          </p:cNvPr>
          <p:cNvSpPr/>
          <p:nvPr/>
        </p:nvSpPr>
        <p:spPr>
          <a:xfrm>
            <a:off x="148045" y="2321730"/>
            <a:ext cx="2013457" cy="333902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9" name="Shape 21">
            <a:extLst>
              <a:ext uri="{FF2B5EF4-FFF2-40B4-BE49-F238E27FC236}">
                <a16:creationId xmlns:a16="http://schemas.microsoft.com/office/drawing/2014/main" id="{46460829-7C74-0848-EB4B-4A86A2E12049}"/>
              </a:ext>
            </a:extLst>
          </p:cNvPr>
          <p:cNvSpPr/>
          <p:nvPr/>
        </p:nvSpPr>
        <p:spPr>
          <a:xfrm>
            <a:off x="148044" y="2321730"/>
            <a:ext cx="48297" cy="33390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0" name="Text 22">
            <a:extLst>
              <a:ext uri="{FF2B5EF4-FFF2-40B4-BE49-F238E27FC236}">
                <a16:creationId xmlns:a16="http://schemas.microsoft.com/office/drawing/2014/main" id="{A6EB478C-BAE8-E412-8C65-5CA0FB8FBE5D}"/>
              </a:ext>
            </a:extLst>
          </p:cNvPr>
          <p:cNvSpPr/>
          <p:nvPr/>
        </p:nvSpPr>
        <p:spPr>
          <a:xfrm>
            <a:off x="247274" y="2358524"/>
            <a:ext cx="1255729" cy="1553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Портрет кандидата</a:t>
            </a:r>
            <a:endParaRPr lang="en-US" sz="950" dirty="0"/>
          </a:p>
        </p:txBody>
      </p:sp>
      <p:sp>
        <p:nvSpPr>
          <p:cNvPr id="61" name="Text 23">
            <a:extLst>
              <a:ext uri="{FF2B5EF4-FFF2-40B4-BE49-F238E27FC236}">
                <a16:creationId xmlns:a16="http://schemas.microsoft.com/office/drawing/2014/main" id="{F9E3D05F-0FC1-2E22-148C-82ECD0E441A8}"/>
              </a:ext>
            </a:extLst>
          </p:cNvPr>
          <p:cNvSpPr/>
          <p:nvPr/>
        </p:nvSpPr>
        <p:spPr>
          <a:xfrm>
            <a:off x="257773" y="2523744"/>
            <a:ext cx="3573997" cy="1397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chart с реальными цифрами</a:t>
            </a:r>
            <a:endParaRPr lang="en-US" sz="850" dirty="0"/>
          </a:p>
        </p:txBody>
      </p:sp>
      <p:sp>
        <p:nvSpPr>
          <p:cNvPr id="62" name="Shape 24">
            <a:extLst>
              <a:ext uri="{FF2B5EF4-FFF2-40B4-BE49-F238E27FC236}">
                <a16:creationId xmlns:a16="http://schemas.microsoft.com/office/drawing/2014/main" id="{2C894EB8-83D4-F358-F1A5-803D8D8FE3E0}"/>
              </a:ext>
            </a:extLst>
          </p:cNvPr>
          <p:cNvSpPr/>
          <p:nvPr/>
        </p:nvSpPr>
        <p:spPr>
          <a:xfrm>
            <a:off x="365759" y="2768648"/>
            <a:ext cx="1795743" cy="333902"/>
          </a:xfrm>
          <a:prstGeom prst="rect">
            <a:avLst/>
          </a:prstGeom>
          <a:solidFill>
            <a:srgbClr val="F9F9F9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3" name="Shape 25">
            <a:extLst>
              <a:ext uri="{FF2B5EF4-FFF2-40B4-BE49-F238E27FC236}">
                <a16:creationId xmlns:a16="http://schemas.microsoft.com/office/drawing/2014/main" id="{32C95886-4C2B-354A-128A-F490330D1427}"/>
              </a:ext>
            </a:extLst>
          </p:cNvPr>
          <p:cNvSpPr/>
          <p:nvPr/>
        </p:nvSpPr>
        <p:spPr>
          <a:xfrm>
            <a:off x="148044" y="2769786"/>
            <a:ext cx="48297" cy="33390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4" name="Text 26">
            <a:extLst>
              <a:ext uri="{FF2B5EF4-FFF2-40B4-BE49-F238E27FC236}">
                <a16:creationId xmlns:a16="http://schemas.microsoft.com/office/drawing/2014/main" id="{C0EE1FBF-B2D4-A61F-067A-8AE2B77B8649}"/>
              </a:ext>
            </a:extLst>
          </p:cNvPr>
          <p:cNvSpPr/>
          <p:nvPr/>
        </p:nvSpPr>
        <p:spPr>
          <a:xfrm>
            <a:off x="257772" y="2815506"/>
            <a:ext cx="1255729" cy="1553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Гипотезы</a:t>
            </a:r>
            <a:endParaRPr lang="en-US" sz="950" dirty="0"/>
          </a:p>
        </p:txBody>
      </p:sp>
      <p:sp>
        <p:nvSpPr>
          <p:cNvPr id="65" name="Text 27">
            <a:extLst>
              <a:ext uri="{FF2B5EF4-FFF2-40B4-BE49-F238E27FC236}">
                <a16:creationId xmlns:a16="http://schemas.microsoft.com/office/drawing/2014/main" id="{4D106E1A-9E53-24BC-645E-282F278464E0}"/>
              </a:ext>
            </a:extLst>
          </p:cNvPr>
          <p:cNvSpPr/>
          <p:nvPr/>
        </p:nvSpPr>
        <p:spPr>
          <a:xfrm>
            <a:off x="257773" y="2971800"/>
            <a:ext cx="3573997" cy="1397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признаков с объяснениями</a:t>
            </a:r>
            <a:endParaRPr lang="en-US" sz="850" dirty="0"/>
          </a:p>
        </p:txBody>
      </p:sp>
      <p:sp>
        <p:nvSpPr>
          <p:cNvPr id="66" name="Shape 28">
            <a:extLst>
              <a:ext uri="{FF2B5EF4-FFF2-40B4-BE49-F238E27FC236}">
                <a16:creationId xmlns:a16="http://schemas.microsoft.com/office/drawing/2014/main" id="{B46EDC57-C523-D05E-E52A-25086F6F89EB}"/>
              </a:ext>
            </a:extLst>
          </p:cNvPr>
          <p:cNvSpPr/>
          <p:nvPr/>
        </p:nvSpPr>
        <p:spPr>
          <a:xfrm>
            <a:off x="148045" y="3217842"/>
            <a:ext cx="2013457" cy="333902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7" name="Shape 29">
            <a:extLst>
              <a:ext uri="{FF2B5EF4-FFF2-40B4-BE49-F238E27FC236}">
                <a16:creationId xmlns:a16="http://schemas.microsoft.com/office/drawing/2014/main" id="{8EF7A365-FA23-1031-45A8-396D4ABE7086}"/>
              </a:ext>
            </a:extLst>
          </p:cNvPr>
          <p:cNvSpPr/>
          <p:nvPr/>
        </p:nvSpPr>
        <p:spPr>
          <a:xfrm>
            <a:off x="148044" y="3217842"/>
            <a:ext cx="48297" cy="33390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8" name="Text 30">
            <a:extLst>
              <a:ext uri="{FF2B5EF4-FFF2-40B4-BE49-F238E27FC236}">
                <a16:creationId xmlns:a16="http://schemas.microsoft.com/office/drawing/2014/main" id="{D54792A6-B2FA-ECEA-D9B3-48DC11BD6637}"/>
              </a:ext>
            </a:extLst>
          </p:cNvPr>
          <p:cNvSpPr/>
          <p:nvPr/>
        </p:nvSpPr>
        <p:spPr>
          <a:xfrm>
            <a:off x="257772" y="3263562"/>
            <a:ext cx="1255729" cy="1553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</a:t>
            </a:r>
            <a:endParaRPr lang="en-US" sz="950" dirty="0"/>
          </a:p>
        </p:txBody>
      </p:sp>
      <p:sp>
        <p:nvSpPr>
          <p:cNvPr id="69" name="Text 31">
            <a:extLst>
              <a:ext uri="{FF2B5EF4-FFF2-40B4-BE49-F238E27FC236}">
                <a16:creationId xmlns:a16="http://schemas.microsoft.com/office/drawing/2014/main" id="{ADA93D87-33CF-9F49-152A-289E1AAE43E2}"/>
              </a:ext>
            </a:extLst>
          </p:cNvPr>
          <p:cNvSpPr/>
          <p:nvPr/>
        </p:nvSpPr>
        <p:spPr>
          <a:xfrm>
            <a:off x="257773" y="3419856"/>
            <a:ext cx="3573997" cy="1397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Таблицы и выводы из модели</a:t>
            </a:r>
            <a:endParaRPr lang="en-US" sz="850" dirty="0"/>
          </a:p>
        </p:txBody>
      </p:sp>
      <p:sp>
        <p:nvSpPr>
          <p:cNvPr id="71" name="Text 33">
            <a:extLst>
              <a:ext uri="{FF2B5EF4-FFF2-40B4-BE49-F238E27FC236}">
                <a16:creationId xmlns:a16="http://schemas.microsoft.com/office/drawing/2014/main" id="{FB81D577-B109-4544-7B98-46B6A122B63B}"/>
              </a:ext>
            </a:extLst>
          </p:cNvPr>
          <p:cNvSpPr/>
          <p:nvPr/>
        </p:nvSpPr>
        <p:spPr>
          <a:xfrm>
            <a:off x="148045" y="369137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</a:t>
            </a: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run </a:t>
            </a:r>
            <a:r>
              <a:rPr lang="en-US" sz="950" dirty="0" err="1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streamlit_app.py</a:t>
            </a:r>
            <a:endParaRPr lang="en-US" sz="950" dirty="0"/>
          </a:p>
        </p:txBody>
      </p:sp>
      <p:sp>
        <p:nvSpPr>
          <p:cNvPr id="72" name="Shape 34">
            <a:extLst>
              <a:ext uri="{FF2B5EF4-FFF2-40B4-BE49-F238E27FC236}">
                <a16:creationId xmlns:a16="http://schemas.microsoft.com/office/drawing/2014/main" id="{65950861-D72D-26BC-A4D1-6262DF2AD5E7}"/>
              </a:ext>
            </a:extLst>
          </p:cNvPr>
          <p:cNvSpPr/>
          <p:nvPr/>
        </p:nvSpPr>
        <p:spPr>
          <a:xfrm>
            <a:off x="7132320" y="4663440"/>
            <a:ext cx="1828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73" name="Image 0" descr="preencoded.png">
            <a:extLst>
              <a:ext uri="{FF2B5EF4-FFF2-40B4-BE49-F238E27FC236}">
                <a16:creationId xmlns:a16="http://schemas.microsoft.com/office/drawing/2014/main" id="{32D6F7BD-7BCD-D8F0-2704-C546CAD23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4681728"/>
            <a:ext cx="320040" cy="320040"/>
          </a:xfrm>
          <a:prstGeom prst="rect">
            <a:avLst/>
          </a:prstGeom>
        </p:spPr>
      </p:pic>
      <p:pic>
        <p:nvPicPr>
          <p:cNvPr id="74" name="Image 1" descr="preencoded.png">
            <a:extLst>
              <a:ext uri="{FF2B5EF4-FFF2-40B4-BE49-F238E27FC236}">
                <a16:creationId xmlns:a16="http://schemas.microsoft.com/office/drawing/2014/main" id="{D12903DD-EF82-65EC-9217-FB11B6EE0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4700016"/>
            <a:ext cx="1234440" cy="292608"/>
          </a:xfrm>
          <a:prstGeom prst="rect">
            <a:avLst/>
          </a:prstGeom>
        </p:spPr>
      </p:pic>
      <p:pic>
        <p:nvPicPr>
          <p:cNvPr id="75" name="Рисунок 74">
            <a:extLst>
              <a:ext uri="{FF2B5EF4-FFF2-40B4-BE49-F238E27FC236}">
                <a16:creationId xmlns:a16="http://schemas.microsoft.com/office/drawing/2014/main" id="{F3F249B8-5B85-1C5C-7DEB-F70258B5E9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1016825"/>
            <a:ext cx="2736257" cy="1552446"/>
          </a:xfrm>
          <a:prstGeom prst="rect">
            <a:avLst/>
          </a:prstGeom>
        </p:spPr>
      </p:pic>
      <p:pic>
        <p:nvPicPr>
          <p:cNvPr id="76" name="Рисунок 75">
            <a:extLst>
              <a:ext uri="{FF2B5EF4-FFF2-40B4-BE49-F238E27FC236}">
                <a16:creationId xmlns:a16="http://schemas.microsoft.com/office/drawing/2014/main" id="{5FDA6D9B-9D41-D913-A2EC-D48636C891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9846" y="995850"/>
            <a:ext cx="2769834" cy="1573420"/>
          </a:xfrm>
          <a:prstGeom prst="rect">
            <a:avLst/>
          </a:prstGeom>
        </p:spPr>
      </p:pic>
      <p:pic>
        <p:nvPicPr>
          <p:cNvPr id="77" name="Рисунок 76">
            <a:extLst>
              <a:ext uri="{FF2B5EF4-FFF2-40B4-BE49-F238E27FC236}">
                <a16:creationId xmlns:a16="http://schemas.microsoft.com/office/drawing/2014/main" id="{1F619DAB-51EB-E84A-48C0-46FCD8686B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1119" y="2877554"/>
            <a:ext cx="2879393" cy="1639654"/>
          </a:xfrm>
          <a:prstGeom prst="rect">
            <a:avLst/>
          </a:prstGeom>
        </p:spPr>
      </p:pic>
      <p:pic>
        <p:nvPicPr>
          <p:cNvPr id="78" name="Рисунок 77">
            <a:extLst>
              <a:ext uri="{FF2B5EF4-FFF2-40B4-BE49-F238E27FC236}">
                <a16:creationId xmlns:a16="http://schemas.microsoft.com/office/drawing/2014/main" id="{2CB28DD5-5FEA-8BBF-9C78-655B6A7153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8259" y="2861420"/>
            <a:ext cx="2776624" cy="1573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7850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807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r>
              <a:rPr lang="en-US" dirty="0"/>
              <a:t>`	</a:t>
            </a:r>
            <a:endParaRPr lang="ru-KZ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Спасибо!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Mindspark  |  Mastercard MDQ Hackathon 2026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1920240" cy="1371600"/>
          </a:xfrm>
          <a:prstGeom prst="rect">
            <a:avLst/>
          </a:prstGeom>
          <a:solidFill>
            <a:srgbClr val="222222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192024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597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кандидатов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06040" y="2743200"/>
            <a:ext cx="1920240" cy="1371600"/>
          </a:xfrm>
          <a:prstGeom prst="rect">
            <a:avLst/>
          </a:prstGeom>
          <a:solidFill>
            <a:srgbClr val="222222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Shape 8"/>
          <p:cNvSpPr/>
          <p:nvPr/>
        </p:nvSpPr>
        <p:spPr>
          <a:xfrm>
            <a:off x="2606040" y="2743200"/>
            <a:ext cx="192024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2606040" y="28346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~1.0*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606040" y="3429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data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2743200"/>
            <a:ext cx="1920240" cy="1371600"/>
          </a:xfrm>
          <a:prstGeom prst="rect">
            <a:avLst/>
          </a:prstGeom>
          <a:solidFill>
            <a:srgbClr val="222222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Shape 12"/>
          <p:cNvSpPr/>
          <p:nvPr/>
        </p:nvSpPr>
        <p:spPr>
          <a:xfrm>
            <a:off x="4754880" y="2743200"/>
            <a:ext cx="192024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Text 13"/>
          <p:cNvSpPr/>
          <p:nvPr/>
        </p:nvSpPr>
        <p:spPr>
          <a:xfrm>
            <a:off x="4754880" y="28346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88M тенге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754880" y="3429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потенц. доход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03720" y="2743200"/>
            <a:ext cx="1920240" cy="1371600"/>
          </a:xfrm>
          <a:prstGeom prst="rect">
            <a:avLst/>
          </a:prstGeom>
          <a:solidFill>
            <a:srgbClr val="222222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8" name="Shape 16"/>
          <p:cNvSpPr/>
          <p:nvPr/>
        </p:nvSpPr>
        <p:spPr>
          <a:xfrm>
            <a:off x="6903720" y="2743200"/>
            <a:ext cx="192024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Text 17"/>
          <p:cNvSpPr/>
          <p:nvPr/>
        </p:nvSpPr>
        <p:spPr>
          <a:xfrm>
            <a:off x="6903720" y="28346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тира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03720" y="3429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watchlist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132320" y="4617720"/>
            <a:ext cx="1828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4645152"/>
            <a:ext cx="365760" cy="365760"/>
          </a:xfrm>
          <a:prstGeom prst="rect">
            <a:avLst/>
          </a:prstGeom>
        </p:spPr>
      </p:pic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2672" y="4663440"/>
            <a:ext cx="1234440" cy="32004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57200" y="475488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Near-perfect на synthetic data | Данные синтетические, предназначены для учебных целей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1019</Words>
  <Application>Microsoft Macintosh PowerPoint</Application>
  <PresentationFormat>Экран (16:9)</PresentationFormat>
  <Paragraphs>280</Paragraphs>
  <Slides>15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8" baseType="lpstr">
      <vt:lpstr>Arial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Samal Yerkin</cp:lastModifiedBy>
  <cp:revision>3</cp:revision>
  <dcterms:created xsi:type="dcterms:W3CDTF">2026-05-29T15:06:03Z</dcterms:created>
  <dcterms:modified xsi:type="dcterms:W3CDTF">2026-05-29T17:32:52Z</dcterms:modified>
</cp:coreProperties>
</file>